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87" r:id="rId3"/>
    <p:sldId id="285" r:id="rId4"/>
    <p:sldId id="286" r:id="rId5"/>
    <p:sldId id="282" r:id="rId6"/>
    <p:sldId id="289" r:id="rId7"/>
    <p:sldId id="291" r:id="rId8"/>
    <p:sldId id="283" r:id="rId9"/>
    <p:sldId id="274" r:id="rId10"/>
    <p:sldId id="290"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95071" autoAdjust="0"/>
  </p:normalViewPr>
  <p:slideViewPr>
    <p:cSldViewPr snapToGrid="0">
      <p:cViewPr varScale="1">
        <p:scale>
          <a:sx n="79" d="100"/>
          <a:sy n="79" d="100"/>
        </p:scale>
        <p:origin x="13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C34CC-E51A-4E81-A899-63A1B719329D}" type="datetimeFigureOut">
              <a:rPr lang="en-US" smtClean="0"/>
              <a:t>6/25/2025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EB7E9-B232-4146-A2E3-1407691099C3}" type="slidenum">
              <a:rPr lang="en-US" smtClean="0"/>
              <a:t>‹#›</a:t>
            </a:fld>
            <a:endParaRPr lang="en-US"/>
          </a:p>
        </p:txBody>
      </p:sp>
    </p:spTree>
    <p:extLst>
      <p:ext uri="{BB962C8B-B14F-4D97-AF65-F5344CB8AC3E}">
        <p14:creationId xmlns:p14="http://schemas.microsoft.com/office/powerpoint/2010/main" val="92328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a:t>
            </a:r>
          </a:p>
          <a:p>
            <a:r>
              <a:rPr lang="en-US" dirty="0"/>
              <a:t>1) History Long L.T of FR6F Approval</a:t>
            </a:r>
          </a:p>
          <a:p>
            <a:r>
              <a:rPr lang="en-US" dirty="0"/>
              <a:t>2) Related to Process Change Business Process and Procedure belong to PE</a:t>
            </a:r>
          </a:p>
          <a:p>
            <a:r>
              <a:rPr lang="en-US" dirty="0"/>
              <a:t>3) Control and Monitoring regarding fulfillment PCR requirement coordinated by PE and supported by QC</a:t>
            </a:r>
          </a:p>
        </p:txBody>
      </p:sp>
      <p:sp>
        <p:nvSpPr>
          <p:cNvPr id="4" name="Slide Number Placeholder 3"/>
          <p:cNvSpPr>
            <a:spLocks noGrp="1"/>
          </p:cNvSpPr>
          <p:nvPr>
            <p:ph type="sldNum" sz="quarter" idx="5"/>
          </p:nvPr>
        </p:nvSpPr>
        <p:spPr/>
        <p:txBody>
          <a:bodyPr/>
          <a:lstStyle/>
          <a:p>
            <a:fld id="{15AEB7E9-B232-4146-A2E3-1407691099C3}" type="slidenum">
              <a:rPr lang="en-US" smtClean="0"/>
              <a:t>1</a:t>
            </a:fld>
            <a:endParaRPr lang="en-US"/>
          </a:p>
        </p:txBody>
      </p:sp>
    </p:spTree>
    <p:extLst>
      <p:ext uri="{BB962C8B-B14F-4D97-AF65-F5344CB8AC3E}">
        <p14:creationId xmlns:p14="http://schemas.microsoft.com/office/powerpoint/2010/main" val="3814205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AEB7E9-B232-4146-A2E3-1407691099C3}" type="slidenum">
              <a:rPr lang="en-US" smtClean="0"/>
              <a:t>2</a:t>
            </a:fld>
            <a:endParaRPr lang="en-US"/>
          </a:p>
        </p:txBody>
      </p:sp>
    </p:spTree>
    <p:extLst>
      <p:ext uri="{BB962C8B-B14F-4D97-AF65-F5344CB8AC3E}">
        <p14:creationId xmlns:p14="http://schemas.microsoft.com/office/powerpoint/2010/main" val="1272335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90CDD-FB2F-F386-8324-C0098EBB3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6DA0A-093D-1CEF-A899-3C0DA3ED6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9BDCE-1E02-28E8-A17E-24419B7B883C}"/>
              </a:ext>
            </a:extLst>
          </p:cNvPr>
          <p:cNvSpPr>
            <a:spLocks noGrp="1"/>
          </p:cNvSpPr>
          <p:nvPr>
            <p:ph type="body" idx="1"/>
          </p:nvPr>
        </p:nvSpPr>
        <p:spPr/>
        <p:txBody>
          <a:bodyPr/>
          <a:lstStyle/>
          <a:p>
            <a:pPr marL="228600" indent="-228600">
              <a:buAutoNum type="arabicParenR"/>
            </a:pPr>
            <a:r>
              <a:rPr lang="en-US" dirty="0"/>
              <a:t>Background </a:t>
            </a:r>
            <a:r>
              <a:rPr lang="en-US" dirty="0">
                <a:sym typeface="Wingdings" panose="05000000000000000000" pitchFamily="2" charset="2"/>
              </a:rPr>
              <a:t> </a:t>
            </a:r>
            <a:r>
              <a:rPr lang="en-US" dirty="0" err="1">
                <a:sym typeface="Wingdings" panose="05000000000000000000" pitchFamily="2" charset="2"/>
              </a:rPr>
              <a:t>ada</a:t>
            </a:r>
            <a:r>
              <a:rPr lang="en-US" dirty="0">
                <a:sym typeface="Wingdings" panose="05000000000000000000" pitchFamily="2" charset="2"/>
              </a:rPr>
              <a:t> di </a:t>
            </a:r>
            <a:r>
              <a:rPr lang="en-US" dirty="0" err="1">
                <a:sym typeface="Wingdings" panose="05000000000000000000" pitchFamily="2" charset="2"/>
              </a:rPr>
              <a:t>deskripsi</a:t>
            </a:r>
            <a:r>
              <a:rPr lang="en-US" dirty="0">
                <a:sym typeface="Wingdings" panose="05000000000000000000" pitchFamily="2" charset="2"/>
              </a:rPr>
              <a:t> page 1</a:t>
            </a:r>
            <a:endParaRPr lang="en-US" dirty="0"/>
          </a:p>
          <a:p>
            <a:pPr marL="228600" indent="-228600">
              <a:buAutoNum type="arabicParenR"/>
            </a:pPr>
            <a:r>
              <a:rPr lang="en-US" dirty="0"/>
              <a:t>Before – After simple statement (change point)</a:t>
            </a:r>
          </a:p>
          <a:p>
            <a:pPr marL="0" indent="0">
              <a:buNone/>
            </a:pPr>
            <a:r>
              <a:rPr lang="en-US" dirty="0">
                <a:sym typeface="Wingdings" panose="05000000000000000000" pitchFamily="2" charset="2"/>
              </a:rPr>
              <a:t>       Context Coordination &amp; Fulfillment : Before ( Internal Process by PE, External Process By Sales ), After ( Internal &amp; External Process by PE )</a:t>
            </a:r>
            <a:endParaRPr lang="en-US" dirty="0"/>
          </a:p>
          <a:p>
            <a:pPr marL="0" indent="0">
              <a:buNone/>
            </a:pPr>
            <a:r>
              <a:rPr lang="en-US" dirty="0">
                <a:solidFill>
                  <a:srgbClr val="FF0000"/>
                </a:solidFill>
              </a:rPr>
              <a:t>3)   Tabel Follow Page 3 </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Dengan</a:t>
            </a:r>
            <a:r>
              <a:rPr lang="en-US" dirty="0">
                <a:solidFill>
                  <a:srgbClr val="FF0000"/>
                </a:solidFill>
                <a:sym typeface="Wingdings" panose="05000000000000000000" pitchFamily="2" charset="2"/>
              </a:rPr>
              <a:t> panel review ( PE + DGM + GM ) judgment </a:t>
            </a:r>
            <a:r>
              <a:rPr lang="en-US" dirty="0" err="1">
                <a:solidFill>
                  <a:srgbClr val="FF0000"/>
                </a:solidFill>
                <a:sym typeface="Wingdings" panose="05000000000000000000" pitchFamily="2" charset="2"/>
              </a:rPr>
              <a:t>Lokalisasi</a:t>
            </a:r>
            <a:r>
              <a:rPr lang="en-US" dirty="0">
                <a:solidFill>
                  <a:srgbClr val="FF0000"/>
                </a:solidFill>
                <a:sym typeface="Wingdings" panose="05000000000000000000" pitchFamily="2" charset="2"/>
              </a:rPr>
              <a:t> di </a:t>
            </a:r>
            <a:r>
              <a:rPr lang="en-US" dirty="0" err="1">
                <a:solidFill>
                  <a:srgbClr val="FF0000"/>
                </a:solidFill>
                <a:sym typeface="Wingdings" panose="05000000000000000000" pitchFamily="2" charset="2"/>
              </a:rPr>
              <a:t>awal</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sebelum</a:t>
            </a:r>
            <a:r>
              <a:rPr lang="en-US" dirty="0">
                <a:solidFill>
                  <a:srgbClr val="FF0000"/>
                </a:solidFill>
                <a:sym typeface="Wingdings" panose="05000000000000000000" pitchFamily="2" charset="2"/>
              </a:rPr>
              <a:t> process PCR</a:t>
            </a:r>
            <a:endParaRPr lang="en-US" dirty="0">
              <a:solidFill>
                <a:srgbClr val="FF0000"/>
              </a:solidFill>
            </a:endParaRPr>
          </a:p>
          <a:p>
            <a:pPr marL="0" indent="0">
              <a:buNone/>
            </a:pPr>
            <a:r>
              <a:rPr lang="en-US" dirty="0"/>
              <a:t>4)   Job load &amp; countermeasure (if not enough)</a:t>
            </a:r>
          </a:p>
          <a:p>
            <a:pPr marL="0" indent="0">
              <a:buNone/>
            </a:pPr>
            <a:r>
              <a:rPr lang="en-US" dirty="0">
                <a:sym typeface="Wingdings" panose="05000000000000000000" pitchFamily="2" charset="2"/>
              </a:rPr>
              <a:t>       Cross check Current Job Load, Cross Check &amp; Simulate with additional PCR Job ( Our current PCR Job + Customer PCR Job in each flow )</a:t>
            </a:r>
            <a:endParaRPr lang="en-US" dirty="0"/>
          </a:p>
        </p:txBody>
      </p:sp>
      <p:sp>
        <p:nvSpPr>
          <p:cNvPr id="4" name="Slide Number Placeholder 3">
            <a:extLst>
              <a:ext uri="{FF2B5EF4-FFF2-40B4-BE49-F238E27FC236}">
                <a16:creationId xmlns:a16="http://schemas.microsoft.com/office/drawing/2014/main" id="{8BECCA08-C72D-918A-597F-25958BED6FA4}"/>
              </a:ext>
            </a:extLst>
          </p:cNvPr>
          <p:cNvSpPr>
            <a:spLocks noGrp="1"/>
          </p:cNvSpPr>
          <p:nvPr>
            <p:ph type="sldNum" sz="quarter" idx="5"/>
          </p:nvPr>
        </p:nvSpPr>
        <p:spPr/>
        <p:txBody>
          <a:bodyPr/>
          <a:lstStyle/>
          <a:p>
            <a:fld id="{15AEB7E9-B232-4146-A2E3-1407691099C3}" type="slidenum">
              <a:rPr lang="en-US" smtClean="0"/>
              <a:t>3</a:t>
            </a:fld>
            <a:endParaRPr lang="en-US"/>
          </a:p>
        </p:txBody>
      </p:sp>
    </p:spTree>
    <p:extLst>
      <p:ext uri="{BB962C8B-B14F-4D97-AF65-F5344CB8AC3E}">
        <p14:creationId xmlns:p14="http://schemas.microsoft.com/office/powerpoint/2010/main" val="2163689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AEB7E9-B232-4146-A2E3-1407691099C3}" type="slidenum">
              <a:rPr lang="en-US" smtClean="0"/>
              <a:t>4</a:t>
            </a:fld>
            <a:endParaRPr lang="en-US"/>
          </a:p>
        </p:txBody>
      </p:sp>
    </p:spTree>
    <p:extLst>
      <p:ext uri="{BB962C8B-B14F-4D97-AF65-F5344CB8AC3E}">
        <p14:creationId xmlns:p14="http://schemas.microsoft.com/office/powerpoint/2010/main" val="619193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July start Job Transfer PCR from Sales.</a:t>
            </a:r>
          </a:p>
          <a:p>
            <a:r>
              <a:rPr lang="en-US" dirty="0"/>
              <a:t>2) Customer BP, refer to Quality Manual. </a:t>
            </a:r>
          </a:p>
          <a:p>
            <a:r>
              <a:rPr lang="en-US" dirty="0"/>
              <a:t>3) </a:t>
            </a:r>
            <a:r>
              <a:rPr lang="en-US" dirty="0" err="1"/>
              <a:t>Paralel</a:t>
            </a:r>
            <a:r>
              <a:rPr lang="en-US" dirty="0"/>
              <a:t> </a:t>
            </a:r>
            <a:r>
              <a:rPr lang="en-US" dirty="0" err="1"/>
              <a:t>untuk</a:t>
            </a:r>
            <a:r>
              <a:rPr lang="en-US" dirty="0"/>
              <a:t> </a:t>
            </a:r>
            <a:r>
              <a:rPr lang="en-US" dirty="0" err="1"/>
              <a:t>perkenalan</a:t>
            </a:r>
            <a:r>
              <a:rPr lang="en-US" dirty="0"/>
              <a:t> </a:t>
            </a:r>
            <a:r>
              <a:rPr lang="en-US" dirty="0" err="1"/>
              <a:t>ke</a:t>
            </a:r>
            <a:r>
              <a:rPr lang="en-US" dirty="0"/>
              <a:t> customer 1 </a:t>
            </a:r>
            <a:r>
              <a:rPr lang="en-US" dirty="0" err="1"/>
              <a:t>hari</a:t>
            </a:r>
            <a:r>
              <a:rPr lang="en-US" dirty="0"/>
              <a:t> </a:t>
            </a:r>
            <a:r>
              <a:rPr lang="en-US" dirty="0" err="1"/>
              <a:t>satu</a:t>
            </a:r>
            <a:r>
              <a:rPr lang="en-US" dirty="0"/>
              <a:t> customer ( face to face ), </a:t>
            </a:r>
            <a:r>
              <a:rPr lang="en-US" dirty="0" err="1"/>
              <a:t>dengan</a:t>
            </a:r>
            <a:r>
              <a:rPr lang="en-US" dirty="0"/>
              <a:t> </a:t>
            </a:r>
            <a:r>
              <a:rPr lang="en-US" dirty="0" err="1"/>
              <a:t>preliminari</a:t>
            </a:r>
            <a:r>
              <a:rPr lang="en-US" dirty="0"/>
              <a:t> </a:t>
            </a:r>
            <a:r>
              <a:rPr lang="en-US" dirty="0" err="1"/>
              <a:t>lewat</a:t>
            </a:r>
            <a:r>
              <a:rPr lang="en-US" dirty="0"/>
              <a:t> email</a:t>
            </a:r>
          </a:p>
        </p:txBody>
      </p:sp>
      <p:sp>
        <p:nvSpPr>
          <p:cNvPr id="4" name="Slide Number Placeholder 3"/>
          <p:cNvSpPr>
            <a:spLocks noGrp="1"/>
          </p:cNvSpPr>
          <p:nvPr>
            <p:ph type="sldNum" sz="quarter" idx="5"/>
          </p:nvPr>
        </p:nvSpPr>
        <p:spPr/>
        <p:txBody>
          <a:bodyPr/>
          <a:lstStyle/>
          <a:p>
            <a:fld id="{15AEB7E9-B232-4146-A2E3-1407691099C3}" type="slidenum">
              <a:rPr lang="en-US" smtClean="0"/>
              <a:t>5</a:t>
            </a:fld>
            <a:endParaRPr lang="en-US"/>
          </a:p>
        </p:txBody>
      </p:sp>
    </p:spTree>
    <p:extLst>
      <p:ext uri="{BB962C8B-B14F-4D97-AF65-F5344CB8AC3E}">
        <p14:creationId xmlns:p14="http://schemas.microsoft.com/office/powerpoint/2010/main" val="2837701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Tambah</a:t>
            </a:r>
            <a:r>
              <a:rPr lang="en-US" dirty="0"/>
              <a:t> </a:t>
            </a:r>
            <a:r>
              <a:rPr lang="en-US" dirty="0" err="1"/>
              <a:t>keterangan</a:t>
            </a:r>
            <a:r>
              <a:rPr lang="en-US" dirty="0"/>
              <a:t> M = </a:t>
            </a:r>
            <a:r>
              <a:rPr lang="en-US" dirty="0" err="1"/>
              <a:t>moonth</a:t>
            </a:r>
            <a:endParaRPr lang="en-US" dirty="0"/>
          </a:p>
        </p:txBody>
      </p:sp>
      <p:sp>
        <p:nvSpPr>
          <p:cNvPr id="4" name="Slide Number Placeholder 3"/>
          <p:cNvSpPr>
            <a:spLocks noGrp="1"/>
          </p:cNvSpPr>
          <p:nvPr>
            <p:ph type="sldNum" sz="quarter" idx="5"/>
          </p:nvPr>
        </p:nvSpPr>
        <p:spPr/>
        <p:txBody>
          <a:bodyPr/>
          <a:lstStyle/>
          <a:p>
            <a:fld id="{15AEB7E9-B232-4146-A2E3-1407691099C3}" type="slidenum">
              <a:rPr lang="en-US" smtClean="0"/>
              <a:t>8</a:t>
            </a:fld>
            <a:endParaRPr lang="en-US"/>
          </a:p>
        </p:txBody>
      </p:sp>
    </p:spTree>
    <p:extLst>
      <p:ext uri="{BB962C8B-B14F-4D97-AF65-F5344CB8AC3E}">
        <p14:creationId xmlns:p14="http://schemas.microsoft.com/office/powerpoint/2010/main" val="2989207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Cross check </a:t>
            </a:r>
            <a:r>
              <a:rPr lang="en-US" dirty="0" err="1"/>
              <a:t>sekali</a:t>
            </a:r>
            <a:r>
              <a:rPr lang="en-US" dirty="0"/>
              <a:t> </a:t>
            </a:r>
            <a:r>
              <a:rPr lang="en-US" dirty="0" err="1"/>
              <a:t>lagi</a:t>
            </a:r>
            <a:r>
              <a:rPr lang="en-US" dirty="0"/>
              <a:t> </a:t>
            </a:r>
            <a:r>
              <a:rPr lang="en-US" dirty="0" err="1"/>
              <a:t>terkait</a:t>
            </a:r>
            <a:r>
              <a:rPr lang="en-US" dirty="0"/>
              <a:t> current existing </a:t>
            </a:r>
          </a:p>
        </p:txBody>
      </p:sp>
      <p:sp>
        <p:nvSpPr>
          <p:cNvPr id="4" name="Slide Number Placeholder 3"/>
          <p:cNvSpPr>
            <a:spLocks noGrp="1"/>
          </p:cNvSpPr>
          <p:nvPr>
            <p:ph type="sldNum" sz="quarter" idx="5"/>
          </p:nvPr>
        </p:nvSpPr>
        <p:spPr/>
        <p:txBody>
          <a:bodyPr/>
          <a:lstStyle/>
          <a:p>
            <a:fld id="{15AEB7E9-B232-4146-A2E3-1407691099C3}" type="slidenum">
              <a:rPr lang="en-US" smtClean="0"/>
              <a:t>9</a:t>
            </a:fld>
            <a:endParaRPr lang="en-US"/>
          </a:p>
        </p:txBody>
      </p:sp>
    </p:spTree>
    <p:extLst>
      <p:ext uri="{BB962C8B-B14F-4D97-AF65-F5344CB8AC3E}">
        <p14:creationId xmlns:p14="http://schemas.microsoft.com/office/powerpoint/2010/main" val="513245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donesia Title 1">
  <p:cSld name="Indonesia Title 1">
    <p:bg>
      <p:bgPr>
        <a:solidFill>
          <a:schemeClr val="lt1"/>
        </a:solidFill>
        <a:effectLst/>
      </p:bgPr>
    </p:bg>
    <p:spTree>
      <p:nvGrpSpPr>
        <p:cNvPr id="1" name="Shape 12"/>
        <p:cNvGrpSpPr/>
        <p:nvPr/>
      </p:nvGrpSpPr>
      <p:grpSpPr>
        <a:xfrm>
          <a:off x="0" y="0"/>
          <a:ext cx="0" cy="0"/>
          <a:chOff x="0" y="0"/>
          <a:chExt cx="0" cy="0"/>
        </a:xfrm>
      </p:grpSpPr>
      <p:pic>
        <p:nvPicPr>
          <p:cNvPr id="13" name="Google Shape;13;g22c4fd23147_0_435"/>
          <p:cNvPicPr preferRelativeResize="0"/>
          <p:nvPr/>
        </p:nvPicPr>
        <p:blipFill rotWithShape="1">
          <a:blip r:embed="rId2">
            <a:alphaModFix amt="50000"/>
          </a:blip>
          <a:srcRect l="28560" t="44213" r="35399" b="19776"/>
          <a:stretch/>
        </p:blipFill>
        <p:spPr>
          <a:xfrm>
            <a:off x="4785139" y="1"/>
            <a:ext cx="7406862" cy="4254527"/>
          </a:xfrm>
          <a:prstGeom prst="rect">
            <a:avLst/>
          </a:prstGeom>
          <a:noFill/>
          <a:ln>
            <a:noFill/>
          </a:ln>
        </p:spPr>
      </p:pic>
      <p:pic>
        <p:nvPicPr>
          <p:cNvPr id="14" name="Google Shape;14;g22c4fd23147_0_435"/>
          <p:cNvPicPr preferRelativeResize="0"/>
          <p:nvPr/>
        </p:nvPicPr>
        <p:blipFill rotWithShape="1">
          <a:blip r:embed="rId3">
            <a:alphaModFix/>
          </a:blip>
          <a:srcRect/>
          <a:stretch/>
        </p:blipFill>
        <p:spPr>
          <a:xfrm>
            <a:off x="8597724" y="688375"/>
            <a:ext cx="3020956" cy="928376"/>
          </a:xfrm>
          <a:prstGeom prst="rect">
            <a:avLst/>
          </a:prstGeom>
          <a:noFill/>
          <a:ln>
            <a:noFill/>
          </a:ln>
        </p:spPr>
      </p:pic>
      <p:sp>
        <p:nvSpPr>
          <p:cNvPr id="15" name="Google Shape;15;g22c4fd23147_0_435"/>
          <p:cNvSpPr txBox="1"/>
          <p:nvPr/>
        </p:nvSpPr>
        <p:spPr>
          <a:xfrm>
            <a:off x="842874" y="2353392"/>
            <a:ext cx="10622400" cy="11493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2400"/>
              <a:buFont typeface="Arial"/>
              <a:buNone/>
            </a:pPr>
            <a:r>
              <a:rPr lang="en-JP" sz="3000" b="1" i="0" u="none" strike="noStrike" cap="none">
                <a:solidFill>
                  <a:srgbClr val="3F3F3F"/>
                </a:solidFill>
                <a:latin typeface="Arial"/>
                <a:ea typeface="Arial"/>
                <a:cs typeface="Arial"/>
                <a:sym typeface="Arial"/>
              </a:rPr>
              <a:t>NITERRA PRESENTATION</a:t>
            </a:r>
            <a:endParaRPr sz="3000" b="1" i="0" u="none" strike="noStrike" cap="none">
              <a:solidFill>
                <a:srgbClr val="3F3F3F"/>
              </a:solidFill>
              <a:latin typeface="Arial"/>
              <a:ea typeface="Arial"/>
              <a:cs typeface="Arial"/>
              <a:sym typeface="Arial"/>
            </a:endParaRPr>
          </a:p>
        </p:txBody>
      </p:sp>
      <p:sp>
        <p:nvSpPr>
          <p:cNvPr id="16" name="Google Shape;16;g22c4fd23147_0_435"/>
          <p:cNvSpPr txBox="1"/>
          <p:nvPr/>
        </p:nvSpPr>
        <p:spPr>
          <a:xfrm>
            <a:off x="842874" y="3502688"/>
            <a:ext cx="10622400" cy="1655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en-JP" sz="3000" b="0" i="0" u="none" strike="noStrike" cap="none">
                <a:solidFill>
                  <a:srgbClr val="888888"/>
                </a:solidFill>
                <a:latin typeface="Arial"/>
                <a:ea typeface="Arial"/>
                <a:cs typeface="Arial"/>
                <a:sym typeface="Arial"/>
              </a:rPr>
              <a:t>Prepared by: AW Wicaksana</a:t>
            </a:r>
            <a:endParaRPr sz="30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265365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onesia Title 1 1">
  <p:cSld name="Indonesia Title 1 1">
    <p:bg>
      <p:bgPr>
        <a:solidFill>
          <a:schemeClr val="lt1"/>
        </a:solidFill>
        <a:effectLst/>
      </p:bgPr>
    </p:bg>
    <p:spTree>
      <p:nvGrpSpPr>
        <p:cNvPr id="1" name="Shape 17"/>
        <p:cNvGrpSpPr/>
        <p:nvPr/>
      </p:nvGrpSpPr>
      <p:grpSpPr>
        <a:xfrm>
          <a:off x="0" y="0"/>
          <a:ext cx="0" cy="0"/>
          <a:chOff x="0" y="0"/>
          <a:chExt cx="0" cy="0"/>
        </a:xfrm>
      </p:grpSpPr>
      <p:pic>
        <p:nvPicPr>
          <p:cNvPr id="18" name="Google Shape;18;g22c4c438aec_0_17"/>
          <p:cNvPicPr preferRelativeResize="0"/>
          <p:nvPr/>
        </p:nvPicPr>
        <p:blipFill rotWithShape="1">
          <a:blip r:embed="rId2">
            <a:alphaModFix amt="50000"/>
          </a:blip>
          <a:srcRect l="28561" t="44214" r="35398" b="19773"/>
          <a:stretch/>
        </p:blipFill>
        <p:spPr>
          <a:xfrm>
            <a:off x="4785139" y="1"/>
            <a:ext cx="7406862" cy="4254527"/>
          </a:xfrm>
          <a:prstGeom prst="rect">
            <a:avLst/>
          </a:prstGeom>
          <a:noFill/>
          <a:ln>
            <a:noFill/>
          </a:ln>
        </p:spPr>
      </p:pic>
      <p:pic>
        <p:nvPicPr>
          <p:cNvPr id="19" name="Google Shape;19;g22c4c438aec_0_17"/>
          <p:cNvPicPr preferRelativeResize="0"/>
          <p:nvPr/>
        </p:nvPicPr>
        <p:blipFill rotWithShape="1">
          <a:blip r:embed="rId3">
            <a:alphaModFix/>
          </a:blip>
          <a:srcRect/>
          <a:stretch/>
        </p:blipFill>
        <p:spPr>
          <a:xfrm>
            <a:off x="8597724" y="688375"/>
            <a:ext cx="3020956" cy="928376"/>
          </a:xfrm>
          <a:prstGeom prst="rect">
            <a:avLst/>
          </a:prstGeom>
          <a:noFill/>
          <a:ln>
            <a:noFill/>
          </a:ln>
        </p:spPr>
      </p:pic>
    </p:spTree>
    <p:extLst>
      <p:ext uri="{BB962C8B-B14F-4D97-AF65-F5344CB8AC3E}">
        <p14:creationId xmlns:p14="http://schemas.microsoft.com/office/powerpoint/2010/main" val="3650225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donesia NDA 1">
  <p:cSld name="Indonesia NDA 1">
    <p:bg>
      <p:bgPr>
        <a:solidFill>
          <a:schemeClr val="lt1"/>
        </a:solidFill>
        <a:effectLst/>
      </p:bgPr>
    </p:bg>
    <p:spTree>
      <p:nvGrpSpPr>
        <p:cNvPr id="1" name="Shape 20"/>
        <p:cNvGrpSpPr/>
        <p:nvPr/>
      </p:nvGrpSpPr>
      <p:grpSpPr>
        <a:xfrm>
          <a:off x="0" y="0"/>
          <a:ext cx="0" cy="0"/>
          <a:chOff x="0" y="0"/>
          <a:chExt cx="0" cy="0"/>
        </a:xfrm>
      </p:grpSpPr>
      <p:pic>
        <p:nvPicPr>
          <p:cNvPr id="21" name="Google Shape;21;g22c4fd23147_0_444"/>
          <p:cNvPicPr preferRelativeResize="0"/>
          <p:nvPr/>
        </p:nvPicPr>
        <p:blipFill rotWithShape="1">
          <a:blip r:embed="rId2">
            <a:alphaModFix amt="25000"/>
          </a:blip>
          <a:srcRect l="28560" t="44213" r="35399" b="19776"/>
          <a:stretch/>
        </p:blipFill>
        <p:spPr>
          <a:xfrm>
            <a:off x="4785139" y="1"/>
            <a:ext cx="7406862" cy="4254527"/>
          </a:xfrm>
          <a:prstGeom prst="rect">
            <a:avLst/>
          </a:prstGeom>
          <a:noFill/>
          <a:ln>
            <a:noFill/>
          </a:ln>
        </p:spPr>
      </p:pic>
      <p:pic>
        <p:nvPicPr>
          <p:cNvPr id="22" name="Google Shape;22;g22c4fd23147_0_444"/>
          <p:cNvPicPr preferRelativeResize="0"/>
          <p:nvPr/>
        </p:nvPicPr>
        <p:blipFill rotWithShape="1">
          <a:blip r:embed="rId3">
            <a:alphaModFix/>
          </a:blip>
          <a:srcRect/>
          <a:stretch/>
        </p:blipFill>
        <p:spPr>
          <a:xfrm>
            <a:off x="8597724" y="688375"/>
            <a:ext cx="3020956" cy="928376"/>
          </a:xfrm>
          <a:prstGeom prst="rect">
            <a:avLst/>
          </a:prstGeom>
          <a:noFill/>
          <a:ln>
            <a:noFill/>
          </a:ln>
        </p:spPr>
      </p:pic>
      <p:sp>
        <p:nvSpPr>
          <p:cNvPr id="23" name="Google Shape;23;g22c4fd23147_0_444"/>
          <p:cNvSpPr txBox="1"/>
          <p:nvPr/>
        </p:nvSpPr>
        <p:spPr>
          <a:xfrm>
            <a:off x="1342523" y="2857800"/>
            <a:ext cx="9506954" cy="1662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JP" sz="1800" b="0" i="0" u="none" strike="noStrike" cap="none">
                <a:solidFill>
                  <a:srgbClr val="3F3F3F"/>
                </a:solidFill>
                <a:latin typeface="Helvetica Neue Light"/>
                <a:ea typeface="Helvetica Neue Light"/>
                <a:cs typeface="Helvetica Neue Light"/>
                <a:sym typeface="Helvetica Neue Light"/>
              </a:rPr>
              <a:t>The document is strictly confidential, copyright and owned by PT Niterra Mobility Indonesia. You shall not use, show, publish and release whatsoever all confidentiality information or any part thereof contained in this brief without prior written consent from PT. Niterra Mobility Indonesia.</a:t>
            </a:r>
            <a:endParaRPr sz="1800" b="0" i="0" u="none" strike="noStrike" cap="none">
              <a:solidFill>
                <a:srgbClr val="3F3F3F"/>
              </a:solidFill>
              <a:latin typeface="Avenir"/>
              <a:ea typeface="Avenir"/>
              <a:cs typeface="Avenir"/>
              <a:sym typeface="Avenir"/>
            </a:endParaRPr>
          </a:p>
        </p:txBody>
      </p:sp>
    </p:spTree>
    <p:extLst>
      <p:ext uri="{BB962C8B-B14F-4D97-AF65-F5344CB8AC3E}">
        <p14:creationId xmlns:p14="http://schemas.microsoft.com/office/powerpoint/2010/main" val="2651816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onesia Content 1">
  <p:cSld name="Indonesia Content 1">
    <p:bg>
      <p:bgPr>
        <a:solidFill>
          <a:schemeClr val="lt1"/>
        </a:solidFill>
        <a:effectLst/>
      </p:bgPr>
    </p:bg>
    <p:spTree>
      <p:nvGrpSpPr>
        <p:cNvPr id="1" name="Shape 24"/>
        <p:cNvGrpSpPr/>
        <p:nvPr/>
      </p:nvGrpSpPr>
      <p:grpSpPr>
        <a:xfrm>
          <a:off x="0" y="0"/>
          <a:ext cx="0" cy="0"/>
          <a:chOff x="0" y="0"/>
          <a:chExt cx="0" cy="0"/>
        </a:xfrm>
      </p:grpSpPr>
      <p:pic>
        <p:nvPicPr>
          <p:cNvPr id="25" name="Google Shape;25;g22c4fd23147_0_454"/>
          <p:cNvPicPr preferRelativeResize="0"/>
          <p:nvPr/>
        </p:nvPicPr>
        <p:blipFill rotWithShape="1">
          <a:blip r:embed="rId2">
            <a:alphaModFix amt="22000"/>
          </a:blip>
          <a:srcRect l="28557" t="19896" r="37529" b="33267"/>
          <a:stretch/>
        </p:blipFill>
        <p:spPr>
          <a:xfrm>
            <a:off x="8693723" y="4080601"/>
            <a:ext cx="3498274" cy="2777401"/>
          </a:xfrm>
          <a:prstGeom prst="rect">
            <a:avLst/>
          </a:prstGeom>
          <a:noFill/>
          <a:ln>
            <a:noFill/>
          </a:ln>
        </p:spPr>
      </p:pic>
      <p:pic>
        <p:nvPicPr>
          <p:cNvPr id="26" name="Google Shape;26;g22c4fd23147_0_454"/>
          <p:cNvPicPr preferRelativeResize="0"/>
          <p:nvPr/>
        </p:nvPicPr>
        <p:blipFill rotWithShape="1">
          <a:blip r:embed="rId3">
            <a:alphaModFix/>
          </a:blip>
          <a:srcRect/>
          <a:stretch/>
        </p:blipFill>
        <p:spPr>
          <a:xfrm>
            <a:off x="9903262" y="86651"/>
            <a:ext cx="1771601" cy="544425"/>
          </a:xfrm>
          <a:prstGeom prst="rect">
            <a:avLst/>
          </a:prstGeom>
          <a:noFill/>
          <a:ln>
            <a:noFill/>
          </a:ln>
        </p:spPr>
      </p:pic>
      <p:sp>
        <p:nvSpPr>
          <p:cNvPr id="27" name="Google Shape;27;g22c4fd23147_0_454"/>
          <p:cNvSpPr/>
          <p:nvPr/>
        </p:nvSpPr>
        <p:spPr>
          <a:xfrm>
            <a:off x="725384" y="680825"/>
            <a:ext cx="10284185" cy="61800"/>
          </a:xfrm>
          <a:prstGeom prst="parallelogram">
            <a:avLst>
              <a:gd name="adj" fmla="val 25000"/>
            </a:avLst>
          </a:prstGeom>
          <a:solidFill>
            <a:srgbClr val="0075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g22c4fd23147_0_454"/>
          <p:cNvSpPr/>
          <p:nvPr/>
        </p:nvSpPr>
        <p:spPr>
          <a:xfrm>
            <a:off x="8958646" y="796100"/>
            <a:ext cx="2649969" cy="61800"/>
          </a:xfrm>
          <a:prstGeom prst="parallelogram">
            <a:avLst>
              <a:gd name="adj" fmla="val 25000"/>
            </a:avLst>
          </a:prstGeom>
          <a:solidFill>
            <a:srgbClr val="EEB5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g22c4fd23147_0_454"/>
          <p:cNvSpPr txBox="1"/>
          <p:nvPr/>
        </p:nvSpPr>
        <p:spPr>
          <a:xfrm>
            <a:off x="621491" y="206222"/>
            <a:ext cx="8932062" cy="474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2000"/>
              <a:buFont typeface="Arial"/>
              <a:buNone/>
            </a:pPr>
            <a:r>
              <a:rPr lang="en-JP" sz="3600" b="1" i="0" u="none" strike="noStrike" cap="none">
                <a:solidFill>
                  <a:srgbClr val="3F3F3F"/>
                </a:solidFill>
                <a:latin typeface="Arial"/>
                <a:ea typeface="Arial"/>
                <a:cs typeface="Arial"/>
                <a:sym typeface="Arial"/>
              </a:rPr>
              <a:t>Revision 1</a:t>
            </a:r>
            <a:endParaRPr sz="3600" b="1" i="0" u="none" strike="noStrike" cap="none">
              <a:solidFill>
                <a:srgbClr val="3F3F3F"/>
              </a:solidFill>
              <a:latin typeface="Arial"/>
              <a:ea typeface="Arial"/>
              <a:cs typeface="Arial"/>
              <a:sym typeface="Arial"/>
            </a:endParaRPr>
          </a:p>
        </p:txBody>
      </p:sp>
    </p:spTree>
    <p:extLst>
      <p:ext uri="{BB962C8B-B14F-4D97-AF65-F5344CB8AC3E}">
        <p14:creationId xmlns:p14="http://schemas.microsoft.com/office/powerpoint/2010/main" val="124119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onesia Content 1 1">
  <p:cSld name="Indonesia Content 1 1">
    <p:bg>
      <p:bgPr>
        <a:solidFill>
          <a:schemeClr val="lt1"/>
        </a:solidFill>
        <a:effectLst/>
      </p:bgPr>
    </p:bg>
    <p:spTree>
      <p:nvGrpSpPr>
        <p:cNvPr id="1" name="Shape 30"/>
        <p:cNvGrpSpPr/>
        <p:nvPr/>
      </p:nvGrpSpPr>
      <p:grpSpPr>
        <a:xfrm>
          <a:off x="0" y="0"/>
          <a:ext cx="0" cy="0"/>
          <a:chOff x="0" y="0"/>
          <a:chExt cx="0" cy="0"/>
        </a:xfrm>
      </p:grpSpPr>
      <p:pic>
        <p:nvPicPr>
          <p:cNvPr id="31" name="Google Shape;31;g22c4c438aec_0_50"/>
          <p:cNvPicPr preferRelativeResize="0"/>
          <p:nvPr/>
        </p:nvPicPr>
        <p:blipFill rotWithShape="1">
          <a:blip r:embed="rId2">
            <a:alphaModFix amt="22000"/>
          </a:blip>
          <a:srcRect l="28558" t="19896" r="37528" b="33267"/>
          <a:stretch/>
        </p:blipFill>
        <p:spPr>
          <a:xfrm>
            <a:off x="8693723" y="4080601"/>
            <a:ext cx="3498274" cy="2777401"/>
          </a:xfrm>
          <a:prstGeom prst="rect">
            <a:avLst/>
          </a:prstGeom>
          <a:noFill/>
          <a:ln>
            <a:noFill/>
          </a:ln>
        </p:spPr>
      </p:pic>
      <p:pic>
        <p:nvPicPr>
          <p:cNvPr id="32" name="Google Shape;32;g22c4c438aec_0_50"/>
          <p:cNvPicPr preferRelativeResize="0"/>
          <p:nvPr/>
        </p:nvPicPr>
        <p:blipFill rotWithShape="1">
          <a:blip r:embed="rId3">
            <a:alphaModFix/>
          </a:blip>
          <a:srcRect/>
          <a:stretch/>
        </p:blipFill>
        <p:spPr>
          <a:xfrm>
            <a:off x="9903262" y="86651"/>
            <a:ext cx="1771601" cy="544425"/>
          </a:xfrm>
          <a:prstGeom prst="rect">
            <a:avLst/>
          </a:prstGeom>
          <a:noFill/>
          <a:ln>
            <a:noFill/>
          </a:ln>
        </p:spPr>
      </p:pic>
      <p:sp>
        <p:nvSpPr>
          <p:cNvPr id="33" name="Google Shape;33;g22c4c438aec_0_50"/>
          <p:cNvSpPr/>
          <p:nvPr/>
        </p:nvSpPr>
        <p:spPr>
          <a:xfrm>
            <a:off x="725384" y="680825"/>
            <a:ext cx="10284185" cy="61800"/>
          </a:xfrm>
          <a:prstGeom prst="parallelogram">
            <a:avLst>
              <a:gd name="adj" fmla="val 25000"/>
            </a:avLst>
          </a:prstGeom>
          <a:solidFill>
            <a:srgbClr val="0075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g22c4c438aec_0_50"/>
          <p:cNvSpPr/>
          <p:nvPr/>
        </p:nvSpPr>
        <p:spPr>
          <a:xfrm>
            <a:off x="8958646" y="796100"/>
            <a:ext cx="2649969" cy="61800"/>
          </a:xfrm>
          <a:prstGeom prst="parallelogram">
            <a:avLst>
              <a:gd name="adj" fmla="val 25000"/>
            </a:avLst>
          </a:prstGeom>
          <a:solidFill>
            <a:srgbClr val="EEB5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52874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gnite Your Spirit 1">
  <p:cSld name="Ignite Your Spirit 1">
    <p:bg>
      <p:bgPr>
        <a:solidFill>
          <a:schemeClr val="lt1"/>
        </a:solidFill>
        <a:effectLst/>
      </p:bgPr>
    </p:bg>
    <p:spTree>
      <p:nvGrpSpPr>
        <p:cNvPr id="1" name="Shape 35"/>
        <p:cNvGrpSpPr/>
        <p:nvPr/>
      </p:nvGrpSpPr>
      <p:grpSpPr>
        <a:xfrm>
          <a:off x="0" y="0"/>
          <a:ext cx="0" cy="0"/>
          <a:chOff x="0" y="0"/>
          <a:chExt cx="0" cy="0"/>
        </a:xfrm>
      </p:grpSpPr>
      <p:pic>
        <p:nvPicPr>
          <p:cNvPr id="36" name="Google Shape;36;g22c4fd23147_0_463"/>
          <p:cNvPicPr preferRelativeResize="0"/>
          <p:nvPr/>
        </p:nvPicPr>
        <p:blipFill rotWithShape="1">
          <a:blip r:embed="rId2">
            <a:alphaModFix/>
          </a:blip>
          <a:srcRect l="882" r="893"/>
          <a:stretch/>
        </p:blipFill>
        <p:spPr>
          <a:xfrm>
            <a:off x="0" y="0"/>
            <a:ext cx="12192005" cy="6857998"/>
          </a:xfrm>
          <a:prstGeom prst="rect">
            <a:avLst/>
          </a:prstGeom>
          <a:noFill/>
          <a:ln>
            <a:noFill/>
          </a:ln>
        </p:spPr>
      </p:pic>
      <p:pic>
        <p:nvPicPr>
          <p:cNvPr id="37" name="Google Shape;37;g22c4fd23147_0_463"/>
          <p:cNvPicPr preferRelativeResize="0"/>
          <p:nvPr/>
        </p:nvPicPr>
        <p:blipFill rotWithShape="1">
          <a:blip r:embed="rId3">
            <a:alphaModFix/>
          </a:blip>
          <a:srcRect/>
          <a:stretch/>
        </p:blipFill>
        <p:spPr>
          <a:xfrm>
            <a:off x="937832" y="1834850"/>
            <a:ext cx="10316337" cy="3188301"/>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3073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4"/>
          <p:cNvSpPr txBox="1">
            <a:spLocks noGrp="1"/>
          </p:cNvSpPr>
          <p:nvPr>
            <p:ph type="ctrTitle"/>
          </p:nvPr>
        </p:nvSpPr>
        <p:spPr>
          <a:xfrm>
            <a:off x="655305" y="2106592"/>
            <a:ext cx="10622400" cy="114930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US"/>
              <a:t>Click to edit Master title style</a:t>
            </a:r>
            <a:endParaRPr/>
          </a:p>
        </p:txBody>
      </p:sp>
      <p:sp>
        <p:nvSpPr>
          <p:cNvPr id="40" name="Google Shape;40;p4"/>
          <p:cNvSpPr txBox="1">
            <a:spLocks noGrp="1"/>
          </p:cNvSpPr>
          <p:nvPr>
            <p:ph type="subTitle" idx="1"/>
          </p:nvPr>
        </p:nvSpPr>
        <p:spPr>
          <a:xfrm>
            <a:off x="655305" y="3350288"/>
            <a:ext cx="10622400" cy="16557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r>
              <a:rPr lang="en-US"/>
              <a:t>Click to edit Master subtitle style</a:t>
            </a:r>
            <a:endParaRPr/>
          </a:p>
        </p:txBody>
      </p:sp>
      <p:sp>
        <p:nvSpPr>
          <p:cNvPr id="41" name="Google Shape;41;p4"/>
          <p:cNvSpPr txBox="1">
            <a:spLocks noGrp="1"/>
          </p:cNvSpPr>
          <p:nvPr>
            <p:ph type="body" idx="2"/>
          </p:nvPr>
        </p:nvSpPr>
        <p:spPr>
          <a:xfrm>
            <a:off x="654539" y="535964"/>
            <a:ext cx="6768000" cy="273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335684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p:nvPr/>
        </p:nvSpPr>
        <p:spPr>
          <a:xfrm>
            <a:off x="642461" y="6548400"/>
            <a:ext cx="4362462" cy="246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JP" sz="1000" b="0" i="0" u="none" strike="noStrike" cap="none">
                <a:solidFill>
                  <a:srgbClr val="3F3F3F"/>
                </a:solidFill>
                <a:latin typeface="Arial"/>
                <a:ea typeface="Arial"/>
                <a:cs typeface="Arial"/>
                <a:sym typeface="Arial"/>
              </a:rPr>
              <a:t>PT Niterra Mobility Indonesia. All Rights Reserved.</a:t>
            </a:r>
            <a:endParaRPr sz="1000" b="0" i="0" u="none" strike="noStrike" cap="none">
              <a:solidFill>
                <a:srgbClr val="3F3F3F"/>
              </a:solidFill>
              <a:latin typeface="Arial"/>
              <a:ea typeface="Arial"/>
              <a:cs typeface="Arial"/>
              <a:sym typeface="Arial"/>
            </a:endParaRPr>
          </a:p>
        </p:txBody>
      </p:sp>
      <p:sp>
        <p:nvSpPr>
          <p:cNvPr id="11" name="Google Shape;11;p3"/>
          <p:cNvSpPr txBox="1">
            <a:spLocks noGrp="1"/>
          </p:cNvSpPr>
          <p:nvPr>
            <p:ph type="sldNum" idx="12"/>
          </p:nvPr>
        </p:nvSpPr>
        <p:spPr>
          <a:xfrm>
            <a:off x="8610600" y="6356352"/>
            <a:ext cx="2743385"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2775AB7A-0BF3-464A-B853-08DB9C75AF60}" type="slidenum">
              <a:rPr lang="en-US" smtClean="0"/>
              <a:t>‹#›</a:t>
            </a:fld>
            <a:endParaRPr lang="en-US"/>
          </a:p>
        </p:txBody>
      </p:sp>
    </p:spTree>
    <p:extLst>
      <p:ext uri="{BB962C8B-B14F-4D97-AF65-F5344CB8AC3E}">
        <p14:creationId xmlns:p14="http://schemas.microsoft.com/office/powerpoint/2010/main" val="2060277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7.emf"/><Relationship Id="rId5" Type="http://schemas.openxmlformats.org/officeDocument/2006/relationships/package" Target="../embeddings/Microsoft_Excel_Worksheet1.xlsx"/><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package" Target="../embeddings/Microsoft_Excel_Worksheet2.xlsx"/><Relationship Id="rId7" Type="http://schemas.openxmlformats.org/officeDocument/2006/relationships/package" Target="../embeddings/Microsoft_Excel_Worksheet4.xlsx"/><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package" Target="../embeddings/Microsoft_Excel_Worksheet3.xlsx"/><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9D7BAF-F0B5-D62C-DF70-8D598C5B37AA}"/>
              </a:ext>
            </a:extLst>
          </p:cNvPr>
          <p:cNvSpPr txBox="1"/>
          <p:nvPr/>
        </p:nvSpPr>
        <p:spPr>
          <a:xfrm>
            <a:off x="2064533" y="2507041"/>
            <a:ext cx="8062933" cy="1077218"/>
          </a:xfrm>
          <a:prstGeom prst="rect">
            <a:avLst/>
          </a:prstGeom>
          <a:noFill/>
        </p:spPr>
        <p:txBody>
          <a:bodyPr wrap="square" rtlCol="0">
            <a:spAutoFit/>
          </a:bodyPr>
          <a:lstStyle/>
          <a:p>
            <a:pPr algn="ctr"/>
            <a:r>
              <a:rPr lang="en-US" sz="3200" b="1" dirty="0"/>
              <a:t>Process Change Request </a:t>
            </a:r>
          </a:p>
          <a:p>
            <a:pPr algn="ctr"/>
            <a:r>
              <a:rPr lang="en-US" sz="3200" b="1" dirty="0"/>
              <a:t>Flow Process Draft</a:t>
            </a:r>
          </a:p>
        </p:txBody>
      </p:sp>
      <p:sp>
        <p:nvSpPr>
          <p:cNvPr id="3" name="TextBox 2">
            <a:extLst>
              <a:ext uri="{FF2B5EF4-FFF2-40B4-BE49-F238E27FC236}">
                <a16:creationId xmlns:a16="http://schemas.microsoft.com/office/drawing/2014/main" id="{27A361A1-3327-B83F-0960-D44ED1001593}"/>
              </a:ext>
            </a:extLst>
          </p:cNvPr>
          <p:cNvSpPr txBox="1"/>
          <p:nvPr/>
        </p:nvSpPr>
        <p:spPr>
          <a:xfrm>
            <a:off x="297018" y="4449863"/>
            <a:ext cx="7340764" cy="1631216"/>
          </a:xfrm>
          <a:prstGeom prst="rect">
            <a:avLst/>
          </a:prstGeom>
          <a:noFill/>
        </p:spPr>
        <p:txBody>
          <a:bodyPr wrap="square" rtlCol="0">
            <a:spAutoFit/>
          </a:bodyPr>
          <a:lstStyle/>
          <a:p>
            <a:pPr marL="514350" indent="-514350">
              <a:buAutoNum type="arabicPeriod"/>
            </a:pPr>
            <a:r>
              <a:rPr lang="en-US" sz="2000" dirty="0">
                <a:solidFill>
                  <a:schemeClr val="tx1"/>
                </a:solidFill>
              </a:rPr>
              <a:t>Background</a:t>
            </a:r>
          </a:p>
          <a:p>
            <a:pPr marL="514350" indent="-514350">
              <a:buAutoNum type="arabicPeriod"/>
            </a:pPr>
            <a:r>
              <a:rPr lang="en-US" sz="2000" dirty="0">
                <a:solidFill>
                  <a:schemeClr val="tx1"/>
                </a:solidFill>
              </a:rPr>
              <a:t>PCR Before After Summary</a:t>
            </a:r>
          </a:p>
          <a:p>
            <a:pPr marL="514350" indent="-514350">
              <a:buAutoNum type="arabicPeriod"/>
            </a:pPr>
            <a:r>
              <a:rPr lang="en-US" sz="2000" dirty="0">
                <a:solidFill>
                  <a:schemeClr val="tx1"/>
                </a:solidFill>
              </a:rPr>
              <a:t>Proposed Flow Process</a:t>
            </a:r>
          </a:p>
          <a:p>
            <a:pPr marL="514350" indent="-514350">
              <a:buAutoNum type="arabicPeriod"/>
            </a:pPr>
            <a:r>
              <a:rPr lang="en-US" sz="2000" dirty="0">
                <a:solidFill>
                  <a:schemeClr val="tx1"/>
                </a:solidFill>
              </a:rPr>
              <a:t>Timeline</a:t>
            </a:r>
          </a:p>
          <a:p>
            <a:pPr marL="514350" indent="-514350">
              <a:buAutoNum type="arabicPeriod"/>
            </a:pPr>
            <a:r>
              <a:rPr lang="en-US" sz="2000" dirty="0">
                <a:solidFill>
                  <a:schemeClr val="tx1"/>
                </a:solidFill>
              </a:rPr>
              <a:t>Important Concerns</a:t>
            </a:r>
          </a:p>
        </p:txBody>
      </p:sp>
      <p:sp>
        <p:nvSpPr>
          <p:cNvPr id="4" name="TextBox 3">
            <a:extLst>
              <a:ext uri="{FF2B5EF4-FFF2-40B4-BE49-F238E27FC236}">
                <a16:creationId xmlns:a16="http://schemas.microsoft.com/office/drawing/2014/main" id="{B1FB9CB5-F62C-70A6-1674-FCC4A87B96A8}"/>
              </a:ext>
            </a:extLst>
          </p:cNvPr>
          <p:cNvSpPr txBox="1"/>
          <p:nvPr/>
        </p:nvSpPr>
        <p:spPr>
          <a:xfrm>
            <a:off x="11828834" y="6459166"/>
            <a:ext cx="363166" cy="307777"/>
          </a:xfrm>
          <a:prstGeom prst="rect">
            <a:avLst/>
          </a:prstGeom>
          <a:noFill/>
        </p:spPr>
        <p:txBody>
          <a:bodyPr wrap="square" rtlCol="0">
            <a:spAutoFit/>
          </a:bodyPr>
          <a:lstStyle/>
          <a:p>
            <a:r>
              <a:rPr lang="en-US" dirty="0"/>
              <a:t>0</a:t>
            </a:r>
          </a:p>
        </p:txBody>
      </p:sp>
    </p:spTree>
    <p:extLst>
      <p:ext uri="{BB962C8B-B14F-4D97-AF65-F5344CB8AC3E}">
        <p14:creationId xmlns:p14="http://schemas.microsoft.com/office/powerpoint/2010/main" val="993928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DD89BC-58DC-0813-7165-D8AE9A58F3E2}"/>
              </a:ext>
            </a:extLst>
          </p:cNvPr>
          <p:cNvSpPr txBox="1"/>
          <p:nvPr/>
        </p:nvSpPr>
        <p:spPr>
          <a:xfrm>
            <a:off x="121920" y="101600"/>
            <a:ext cx="7340764" cy="523220"/>
          </a:xfrm>
          <a:prstGeom prst="rect">
            <a:avLst/>
          </a:prstGeom>
          <a:noFill/>
        </p:spPr>
        <p:txBody>
          <a:bodyPr wrap="square" rtlCol="0">
            <a:spAutoFit/>
          </a:bodyPr>
          <a:lstStyle/>
          <a:p>
            <a:r>
              <a:rPr lang="en-US" sz="2800" b="1" dirty="0">
                <a:solidFill>
                  <a:srgbClr val="0070C0"/>
                </a:solidFill>
              </a:rPr>
              <a:t>1. Background</a:t>
            </a:r>
          </a:p>
        </p:txBody>
      </p:sp>
      <p:sp>
        <p:nvSpPr>
          <p:cNvPr id="3" name="TextBox 2">
            <a:extLst>
              <a:ext uri="{FF2B5EF4-FFF2-40B4-BE49-F238E27FC236}">
                <a16:creationId xmlns:a16="http://schemas.microsoft.com/office/drawing/2014/main" id="{4952C949-C691-CCEB-DF83-969F0D25370B}"/>
              </a:ext>
            </a:extLst>
          </p:cNvPr>
          <p:cNvSpPr txBox="1"/>
          <p:nvPr/>
        </p:nvSpPr>
        <p:spPr>
          <a:xfrm>
            <a:off x="0" y="720376"/>
            <a:ext cx="12192000" cy="954107"/>
          </a:xfrm>
          <a:prstGeom prst="rect">
            <a:avLst/>
          </a:prstGeom>
          <a:noFill/>
        </p:spPr>
        <p:txBody>
          <a:bodyPr wrap="square" rtlCol="0">
            <a:spAutoFit/>
          </a:bodyPr>
          <a:lstStyle/>
          <a:p>
            <a:r>
              <a:rPr lang="en-US" sz="2800" dirty="0"/>
              <a:t>Change business flow from Internal </a:t>
            </a:r>
            <a:r>
              <a:rPr lang="en-US" sz="2800" dirty="0" err="1"/>
              <a:t>Niterra</a:t>
            </a:r>
            <a:r>
              <a:rPr lang="en-US" sz="2800" dirty="0"/>
              <a:t> Indonesia to Customer OEM/OES</a:t>
            </a:r>
          </a:p>
        </p:txBody>
      </p:sp>
      <p:grpSp>
        <p:nvGrpSpPr>
          <p:cNvPr id="20" name="Group 19">
            <a:extLst>
              <a:ext uri="{FF2B5EF4-FFF2-40B4-BE49-F238E27FC236}">
                <a16:creationId xmlns:a16="http://schemas.microsoft.com/office/drawing/2014/main" id="{8876CC7F-589C-9791-FBC4-5D10FA06421C}"/>
              </a:ext>
            </a:extLst>
          </p:cNvPr>
          <p:cNvGrpSpPr/>
          <p:nvPr/>
        </p:nvGrpSpPr>
        <p:grpSpPr>
          <a:xfrm>
            <a:off x="152104" y="2767051"/>
            <a:ext cx="11887792" cy="365760"/>
            <a:chOff x="147632" y="1869015"/>
            <a:chExt cx="11887792" cy="791796"/>
          </a:xfrm>
        </p:grpSpPr>
        <p:grpSp>
          <p:nvGrpSpPr>
            <p:cNvPr id="16" name="Group 15">
              <a:extLst>
                <a:ext uri="{FF2B5EF4-FFF2-40B4-BE49-F238E27FC236}">
                  <a16:creationId xmlns:a16="http://schemas.microsoft.com/office/drawing/2014/main" id="{D6E4A884-EA15-D56C-8E78-C5BA634E9701}"/>
                </a:ext>
              </a:extLst>
            </p:cNvPr>
            <p:cNvGrpSpPr/>
            <p:nvPr/>
          </p:nvGrpSpPr>
          <p:grpSpPr>
            <a:xfrm>
              <a:off x="147632" y="1869015"/>
              <a:ext cx="11887792" cy="785446"/>
              <a:chOff x="425425" y="2262554"/>
              <a:chExt cx="11887792" cy="785446"/>
            </a:xfrm>
          </p:grpSpPr>
          <p:sp>
            <p:nvSpPr>
              <p:cNvPr id="4" name="Rectangle 3">
                <a:extLst>
                  <a:ext uri="{FF2B5EF4-FFF2-40B4-BE49-F238E27FC236}">
                    <a16:creationId xmlns:a16="http://schemas.microsoft.com/office/drawing/2014/main" id="{8D32AF46-F404-F44D-C643-0388457639C8}"/>
                  </a:ext>
                </a:extLst>
              </p:cNvPr>
              <p:cNvSpPr/>
              <p:nvPr/>
            </p:nvSpPr>
            <p:spPr>
              <a:xfrm>
                <a:off x="425425" y="2262554"/>
                <a:ext cx="1863969" cy="785446"/>
              </a:xfrm>
              <a:prstGeom prst="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PE </a:t>
                </a:r>
              </a:p>
            </p:txBody>
          </p:sp>
          <p:sp>
            <p:nvSpPr>
              <p:cNvPr id="5" name="Rectangle 4">
                <a:extLst>
                  <a:ext uri="{FF2B5EF4-FFF2-40B4-BE49-F238E27FC236}">
                    <a16:creationId xmlns:a16="http://schemas.microsoft.com/office/drawing/2014/main" id="{08166B12-2987-458F-ACD0-83B9B4FC5D35}"/>
                  </a:ext>
                </a:extLst>
              </p:cNvPr>
              <p:cNvSpPr/>
              <p:nvPr/>
            </p:nvSpPr>
            <p:spPr>
              <a:xfrm>
                <a:off x="5176782" y="2262554"/>
                <a:ext cx="1863969" cy="785446"/>
              </a:xfrm>
              <a:prstGeom prst="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Sales OE</a:t>
                </a:r>
              </a:p>
            </p:txBody>
          </p:sp>
          <p:sp>
            <p:nvSpPr>
              <p:cNvPr id="6" name="Rectangle 5">
                <a:extLst>
                  <a:ext uri="{FF2B5EF4-FFF2-40B4-BE49-F238E27FC236}">
                    <a16:creationId xmlns:a16="http://schemas.microsoft.com/office/drawing/2014/main" id="{50A6B858-EC7E-14C8-A922-EB23D906CFDD}"/>
                  </a:ext>
                </a:extLst>
              </p:cNvPr>
              <p:cNvSpPr/>
              <p:nvPr/>
            </p:nvSpPr>
            <p:spPr>
              <a:xfrm>
                <a:off x="8220612" y="2262554"/>
                <a:ext cx="1863969" cy="78544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Procurement</a:t>
                </a:r>
              </a:p>
            </p:txBody>
          </p:sp>
          <p:sp>
            <p:nvSpPr>
              <p:cNvPr id="7" name="Rectangle 6">
                <a:extLst>
                  <a:ext uri="{FF2B5EF4-FFF2-40B4-BE49-F238E27FC236}">
                    <a16:creationId xmlns:a16="http://schemas.microsoft.com/office/drawing/2014/main" id="{F5FC4D3A-3ED6-0427-A02A-CBC86E49143E}"/>
                  </a:ext>
                </a:extLst>
              </p:cNvPr>
              <p:cNvSpPr/>
              <p:nvPr/>
            </p:nvSpPr>
            <p:spPr>
              <a:xfrm>
                <a:off x="10449248" y="2262554"/>
                <a:ext cx="1863969" cy="78544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Quality</a:t>
                </a:r>
              </a:p>
            </p:txBody>
          </p:sp>
          <p:cxnSp>
            <p:nvCxnSpPr>
              <p:cNvPr id="9" name="Straight Arrow Connector 8">
                <a:extLst>
                  <a:ext uri="{FF2B5EF4-FFF2-40B4-BE49-F238E27FC236}">
                    <a16:creationId xmlns:a16="http://schemas.microsoft.com/office/drawing/2014/main" id="{80E8F670-9E4F-70BC-33F1-3B20773B66E1}"/>
                  </a:ext>
                </a:extLst>
              </p:cNvPr>
              <p:cNvCxnSpPr>
                <a:stCxn id="6" idx="3"/>
                <a:endCxn id="7" idx="1"/>
              </p:cNvCxnSpPr>
              <p:nvPr/>
            </p:nvCxnSpPr>
            <p:spPr>
              <a:xfrm>
                <a:off x="10084581" y="2655278"/>
                <a:ext cx="36466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93363F-EBCC-68F7-D21E-B61B6A50E217}"/>
                  </a:ext>
                </a:extLst>
              </p:cNvPr>
              <p:cNvCxnSpPr>
                <a:cxnSpLocks/>
                <a:stCxn id="5" idx="3"/>
                <a:endCxn id="6" idx="1"/>
              </p:cNvCxnSpPr>
              <p:nvPr/>
            </p:nvCxnSpPr>
            <p:spPr>
              <a:xfrm>
                <a:off x="7040751" y="2655278"/>
                <a:ext cx="1179861" cy="0"/>
              </a:xfrm>
              <a:prstGeom prst="straightConnector1">
                <a:avLst/>
              </a:prstGeom>
              <a:ln w="381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6A0922D-B63E-D0AF-9C87-E756FCF1EF1D}"/>
                  </a:ext>
                </a:extLst>
              </p:cNvPr>
              <p:cNvCxnSpPr>
                <a:cxnSpLocks/>
                <a:stCxn id="4" idx="3"/>
                <a:endCxn id="5" idx="1"/>
              </p:cNvCxnSpPr>
              <p:nvPr/>
            </p:nvCxnSpPr>
            <p:spPr>
              <a:xfrm>
                <a:off x="2289394" y="2655278"/>
                <a:ext cx="288738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8" name="Connector: Elbow 17">
              <a:extLst>
                <a:ext uri="{FF2B5EF4-FFF2-40B4-BE49-F238E27FC236}">
                  <a16:creationId xmlns:a16="http://schemas.microsoft.com/office/drawing/2014/main" id="{9080BC32-DA15-A56A-C695-40493DCFD838}"/>
                </a:ext>
              </a:extLst>
            </p:cNvPr>
            <p:cNvCxnSpPr>
              <a:stCxn id="5" idx="2"/>
              <a:endCxn id="7" idx="2"/>
            </p:cNvCxnSpPr>
            <p:nvPr/>
          </p:nvCxnSpPr>
          <p:spPr>
            <a:xfrm rot="16200000" flipH="1">
              <a:off x="8465529" y="18228"/>
              <a:ext cx="12700" cy="5272466"/>
            </a:xfrm>
            <a:prstGeom prst="bentConnector3">
              <a:avLst>
                <a:gd name="adj1" fmla="val 4943617"/>
              </a:avLst>
            </a:prstGeom>
            <a:ln w="381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119A494D-EBC3-87AC-C8FC-56D0B2774C16}"/>
              </a:ext>
            </a:extLst>
          </p:cNvPr>
          <p:cNvSpPr txBox="1"/>
          <p:nvPr/>
        </p:nvSpPr>
        <p:spPr>
          <a:xfrm>
            <a:off x="7688385" y="2213662"/>
            <a:ext cx="1695305" cy="400110"/>
          </a:xfrm>
          <a:prstGeom prst="rect">
            <a:avLst/>
          </a:prstGeom>
          <a:noFill/>
          <a:ln>
            <a:solidFill>
              <a:schemeClr val="bg1"/>
            </a:solidFill>
          </a:ln>
        </p:spPr>
        <p:txBody>
          <a:bodyPr wrap="square" rtlCol="0">
            <a:spAutoFit/>
          </a:bodyPr>
          <a:lstStyle/>
          <a:p>
            <a:r>
              <a:rPr lang="en-US" sz="2000" b="1" dirty="0"/>
              <a:t>Customers</a:t>
            </a:r>
          </a:p>
        </p:txBody>
      </p:sp>
      <p:grpSp>
        <p:nvGrpSpPr>
          <p:cNvPr id="24" name="Group 23">
            <a:extLst>
              <a:ext uri="{FF2B5EF4-FFF2-40B4-BE49-F238E27FC236}">
                <a16:creationId xmlns:a16="http://schemas.microsoft.com/office/drawing/2014/main" id="{6416DBBA-8FE7-6752-278F-E6101E7E6D78}"/>
              </a:ext>
            </a:extLst>
          </p:cNvPr>
          <p:cNvGrpSpPr/>
          <p:nvPr/>
        </p:nvGrpSpPr>
        <p:grpSpPr>
          <a:xfrm>
            <a:off x="5039969" y="4858525"/>
            <a:ext cx="6945404" cy="365760"/>
            <a:chOff x="5090020" y="1869015"/>
            <a:chExt cx="6945404" cy="791796"/>
          </a:xfrm>
        </p:grpSpPr>
        <p:grpSp>
          <p:nvGrpSpPr>
            <p:cNvPr id="25" name="Group 24">
              <a:extLst>
                <a:ext uri="{FF2B5EF4-FFF2-40B4-BE49-F238E27FC236}">
                  <a16:creationId xmlns:a16="http://schemas.microsoft.com/office/drawing/2014/main" id="{14B2E020-A7D9-ADF8-C64C-BDAA08C2F49E}"/>
                </a:ext>
              </a:extLst>
            </p:cNvPr>
            <p:cNvGrpSpPr/>
            <p:nvPr/>
          </p:nvGrpSpPr>
          <p:grpSpPr>
            <a:xfrm>
              <a:off x="5090020" y="1869015"/>
              <a:ext cx="6945404" cy="785446"/>
              <a:chOff x="5367813" y="2262554"/>
              <a:chExt cx="6945404" cy="785446"/>
            </a:xfrm>
          </p:grpSpPr>
          <p:sp>
            <p:nvSpPr>
              <p:cNvPr id="27" name="Rectangle 26">
                <a:extLst>
                  <a:ext uri="{FF2B5EF4-FFF2-40B4-BE49-F238E27FC236}">
                    <a16:creationId xmlns:a16="http://schemas.microsoft.com/office/drawing/2014/main" id="{ACD6E147-A815-2B2C-CCFD-86942843435F}"/>
                  </a:ext>
                </a:extLst>
              </p:cNvPr>
              <p:cNvSpPr/>
              <p:nvPr/>
            </p:nvSpPr>
            <p:spPr>
              <a:xfrm>
                <a:off x="5367813" y="2262554"/>
                <a:ext cx="1863969" cy="785446"/>
              </a:xfrm>
              <a:prstGeom prst="rect">
                <a:avLst/>
              </a:prstGeom>
              <a:solidFill>
                <a:schemeClr val="accent2">
                  <a:lumMod val="40000"/>
                  <a:lumOff val="60000"/>
                </a:schemeClr>
              </a:solid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PE</a:t>
                </a:r>
              </a:p>
            </p:txBody>
          </p:sp>
          <p:sp>
            <p:nvSpPr>
              <p:cNvPr id="29" name="Rectangle 28">
                <a:extLst>
                  <a:ext uri="{FF2B5EF4-FFF2-40B4-BE49-F238E27FC236}">
                    <a16:creationId xmlns:a16="http://schemas.microsoft.com/office/drawing/2014/main" id="{62B864D7-4EBE-9973-AE1B-600DADD44848}"/>
                  </a:ext>
                </a:extLst>
              </p:cNvPr>
              <p:cNvSpPr/>
              <p:nvPr/>
            </p:nvSpPr>
            <p:spPr>
              <a:xfrm>
                <a:off x="8243757" y="2262554"/>
                <a:ext cx="1863969" cy="78544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Procurement</a:t>
                </a:r>
              </a:p>
            </p:txBody>
          </p:sp>
          <p:sp>
            <p:nvSpPr>
              <p:cNvPr id="30" name="Rectangle 29">
                <a:extLst>
                  <a:ext uri="{FF2B5EF4-FFF2-40B4-BE49-F238E27FC236}">
                    <a16:creationId xmlns:a16="http://schemas.microsoft.com/office/drawing/2014/main" id="{04304644-1D57-B9E3-BE82-3A409E968D8E}"/>
                  </a:ext>
                </a:extLst>
              </p:cNvPr>
              <p:cNvSpPr/>
              <p:nvPr/>
            </p:nvSpPr>
            <p:spPr>
              <a:xfrm>
                <a:off x="10449248" y="2262554"/>
                <a:ext cx="1863969" cy="78544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Quality</a:t>
                </a:r>
              </a:p>
            </p:txBody>
          </p:sp>
          <p:cxnSp>
            <p:nvCxnSpPr>
              <p:cNvPr id="31" name="Straight Arrow Connector 30">
                <a:extLst>
                  <a:ext uri="{FF2B5EF4-FFF2-40B4-BE49-F238E27FC236}">
                    <a16:creationId xmlns:a16="http://schemas.microsoft.com/office/drawing/2014/main" id="{9EA64B33-C324-8E64-B9BE-528BEBAF5674}"/>
                  </a:ext>
                </a:extLst>
              </p:cNvPr>
              <p:cNvCxnSpPr>
                <a:stCxn id="29" idx="3"/>
                <a:endCxn id="30" idx="1"/>
              </p:cNvCxnSpPr>
              <p:nvPr/>
            </p:nvCxnSpPr>
            <p:spPr>
              <a:xfrm>
                <a:off x="10107726" y="2655277"/>
                <a:ext cx="341522"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D8DBF0F-4CC2-A2C7-2226-B538EA3A8CAD}"/>
                  </a:ext>
                </a:extLst>
              </p:cNvPr>
              <p:cNvCxnSpPr>
                <a:cxnSpLocks/>
                <a:stCxn id="27" idx="3"/>
                <a:endCxn id="29" idx="1"/>
              </p:cNvCxnSpPr>
              <p:nvPr/>
            </p:nvCxnSpPr>
            <p:spPr>
              <a:xfrm>
                <a:off x="7231782" y="2655277"/>
                <a:ext cx="101197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26" name="Connector: Elbow 25">
              <a:extLst>
                <a:ext uri="{FF2B5EF4-FFF2-40B4-BE49-F238E27FC236}">
                  <a16:creationId xmlns:a16="http://schemas.microsoft.com/office/drawing/2014/main" id="{17CE038C-9147-BC4F-9D6A-4632276A2BC0}"/>
                </a:ext>
              </a:extLst>
            </p:cNvPr>
            <p:cNvCxnSpPr>
              <a:cxnSpLocks/>
              <a:stCxn id="27" idx="2"/>
              <a:endCxn id="30" idx="2"/>
            </p:cNvCxnSpPr>
            <p:nvPr/>
          </p:nvCxnSpPr>
          <p:spPr>
            <a:xfrm rot="16200000" flipH="1">
              <a:off x="8562722" y="113743"/>
              <a:ext cx="12700" cy="5081435"/>
            </a:xfrm>
            <a:prstGeom prst="bentConnector3">
              <a:avLst>
                <a:gd name="adj1" fmla="val 3298511"/>
              </a:avLst>
            </a:prstGeom>
            <a:ln w="38100">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19288D6C-7B41-3287-5A51-7914AA52B40C}"/>
              </a:ext>
            </a:extLst>
          </p:cNvPr>
          <p:cNvSpPr txBox="1"/>
          <p:nvPr/>
        </p:nvSpPr>
        <p:spPr>
          <a:xfrm>
            <a:off x="36096" y="1746795"/>
            <a:ext cx="2335317" cy="369332"/>
          </a:xfrm>
          <a:prstGeom prst="rect">
            <a:avLst/>
          </a:prstGeom>
          <a:noFill/>
          <a:ln>
            <a:solidFill>
              <a:schemeClr val="bg1"/>
            </a:solidFill>
          </a:ln>
        </p:spPr>
        <p:txBody>
          <a:bodyPr wrap="square" rtlCol="0">
            <a:spAutoFit/>
          </a:bodyPr>
          <a:lstStyle/>
          <a:p>
            <a:r>
              <a:rPr lang="en-US" sz="1800" b="1" i="1" dirty="0"/>
              <a:t>Current Condition</a:t>
            </a:r>
          </a:p>
        </p:txBody>
      </p:sp>
      <p:sp>
        <p:nvSpPr>
          <p:cNvPr id="39" name="TextBox 38">
            <a:extLst>
              <a:ext uri="{FF2B5EF4-FFF2-40B4-BE49-F238E27FC236}">
                <a16:creationId xmlns:a16="http://schemas.microsoft.com/office/drawing/2014/main" id="{D49C0F4A-3440-D41A-8D73-4462AEA211A5}"/>
              </a:ext>
            </a:extLst>
          </p:cNvPr>
          <p:cNvSpPr txBox="1"/>
          <p:nvPr/>
        </p:nvSpPr>
        <p:spPr>
          <a:xfrm>
            <a:off x="-81756" y="4329335"/>
            <a:ext cx="2762387" cy="369332"/>
          </a:xfrm>
          <a:prstGeom prst="rect">
            <a:avLst/>
          </a:prstGeom>
          <a:noFill/>
        </p:spPr>
        <p:txBody>
          <a:bodyPr wrap="square" rtlCol="0">
            <a:spAutoFit/>
          </a:bodyPr>
          <a:lstStyle/>
          <a:p>
            <a:r>
              <a:rPr lang="en-US" sz="1800" b="1" i="1" dirty="0"/>
              <a:t>Proposed Condition</a:t>
            </a:r>
          </a:p>
        </p:txBody>
      </p:sp>
      <p:sp>
        <p:nvSpPr>
          <p:cNvPr id="41" name="Rectangle 40">
            <a:extLst>
              <a:ext uri="{FF2B5EF4-FFF2-40B4-BE49-F238E27FC236}">
                <a16:creationId xmlns:a16="http://schemas.microsoft.com/office/drawing/2014/main" id="{C07C5EF8-6DB5-3C44-3990-340972B11C79}"/>
              </a:ext>
            </a:extLst>
          </p:cNvPr>
          <p:cNvSpPr/>
          <p:nvPr/>
        </p:nvSpPr>
        <p:spPr>
          <a:xfrm>
            <a:off x="4897946" y="2057432"/>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Passthrough PCR</a:t>
            </a:r>
          </a:p>
        </p:txBody>
      </p:sp>
      <p:cxnSp>
        <p:nvCxnSpPr>
          <p:cNvPr id="43" name="Straight Arrow Connector 42">
            <a:extLst>
              <a:ext uri="{FF2B5EF4-FFF2-40B4-BE49-F238E27FC236}">
                <a16:creationId xmlns:a16="http://schemas.microsoft.com/office/drawing/2014/main" id="{751FAC9C-3870-CCF3-1883-0DB754CD8E20}"/>
              </a:ext>
            </a:extLst>
          </p:cNvPr>
          <p:cNvCxnSpPr>
            <a:cxnSpLocks/>
            <a:stCxn id="41" idx="2"/>
            <a:endCxn id="5" idx="0"/>
          </p:cNvCxnSpPr>
          <p:nvPr/>
        </p:nvCxnSpPr>
        <p:spPr>
          <a:xfrm>
            <a:off x="5829931" y="2423192"/>
            <a:ext cx="5515" cy="343859"/>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C8D8CF08-FCB4-C501-DD32-D1489C7A2305}"/>
              </a:ext>
            </a:extLst>
          </p:cNvPr>
          <p:cNvSpPr/>
          <p:nvPr/>
        </p:nvSpPr>
        <p:spPr>
          <a:xfrm>
            <a:off x="150855" y="2144313"/>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 KD Parts PCR</a:t>
            </a:r>
          </a:p>
        </p:txBody>
      </p:sp>
      <p:cxnSp>
        <p:nvCxnSpPr>
          <p:cNvPr id="49" name="Straight Arrow Connector 48">
            <a:extLst>
              <a:ext uri="{FF2B5EF4-FFF2-40B4-BE49-F238E27FC236}">
                <a16:creationId xmlns:a16="http://schemas.microsoft.com/office/drawing/2014/main" id="{FAEB14EB-91D0-A4A6-1BA0-F18E4B41B39F}"/>
              </a:ext>
            </a:extLst>
          </p:cNvPr>
          <p:cNvCxnSpPr>
            <a:stCxn id="46" idx="2"/>
            <a:endCxn id="4" idx="0"/>
          </p:cNvCxnSpPr>
          <p:nvPr/>
        </p:nvCxnSpPr>
        <p:spPr>
          <a:xfrm>
            <a:off x="1082840" y="2510073"/>
            <a:ext cx="1249" cy="2569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3BB5BF4-D9F1-29BF-5386-0549D884F00A}"/>
              </a:ext>
            </a:extLst>
          </p:cNvPr>
          <p:cNvSpPr/>
          <p:nvPr/>
        </p:nvSpPr>
        <p:spPr>
          <a:xfrm>
            <a:off x="36096" y="4853932"/>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KD Parts PCR</a:t>
            </a:r>
          </a:p>
        </p:txBody>
      </p:sp>
      <p:sp>
        <p:nvSpPr>
          <p:cNvPr id="55" name="Rectangle 54">
            <a:extLst>
              <a:ext uri="{FF2B5EF4-FFF2-40B4-BE49-F238E27FC236}">
                <a16:creationId xmlns:a16="http://schemas.microsoft.com/office/drawing/2014/main" id="{829A6EEC-32B1-BB8E-6989-879B4D4D3AFF}"/>
              </a:ext>
            </a:extLst>
          </p:cNvPr>
          <p:cNvSpPr/>
          <p:nvPr/>
        </p:nvSpPr>
        <p:spPr>
          <a:xfrm>
            <a:off x="2700595" y="5433794"/>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Internal PCR</a:t>
            </a:r>
          </a:p>
        </p:txBody>
      </p:sp>
      <p:sp>
        <p:nvSpPr>
          <p:cNvPr id="66" name="Rectangle 65">
            <a:extLst>
              <a:ext uri="{FF2B5EF4-FFF2-40B4-BE49-F238E27FC236}">
                <a16:creationId xmlns:a16="http://schemas.microsoft.com/office/drawing/2014/main" id="{FDBC8B7B-23D7-0484-E05D-DC8DE8383A75}"/>
              </a:ext>
            </a:extLst>
          </p:cNvPr>
          <p:cNvSpPr/>
          <p:nvPr/>
        </p:nvSpPr>
        <p:spPr>
          <a:xfrm>
            <a:off x="152103" y="3459684"/>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Internal PCR</a:t>
            </a:r>
          </a:p>
        </p:txBody>
      </p:sp>
      <p:sp>
        <p:nvSpPr>
          <p:cNvPr id="73" name="Rectangle 72">
            <a:extLst>
              <a:ext uri="{FF2B5EF4-FFF2-40B4-BE49-F238E27FC236}">
                <a16:creationId xmlns:a16="http://schemas.microsoft.com/office/drawing/2014/main" id="{D576F4C2-23A3-CD0F-4333-F98E0D0B49CA}"/>
              </a:ext>
            </a:extLst>
          </p:cNvPr>
          <p:cNvSpPr/>
          <p:nvPr/>
        </p:nvSpPr>
        <p:spPr>
          <a:xfrm>
            <a:off x="2700595" y="4860283"/>
            <a:ext cx="1863969" cy="365760"/>
          </a:xfrm>
          <a:prstGeom prst="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Internal Review</a:t>
            </a:r>
          </a:p>
        </p:txBody>
      </p:sp>
      <p:cxnSp>
        <p:nvCxnSpPr>
          <p:cNvPr id="21" name="Straight Arrow Connector 20">
            <a:extLst>
              <a:ext uri="{FF2B5EF4-FFF2-40B4-BE49-F238E27FC236}">
                <a16:creationId xmlns:a16="http://schemas.microsoft.com/office/drawing/2014/main" id="{A2C86025-6516-5621-B0B1-87AD86BFE1B3}"/>
              </a:ext>
            </a:extLst>
          </p:cNvPr>
          <p:cNvCxnSpPr>
            <a:cxnSpLocks/>
            <a:stCxn id="4" idx="2"/>
            <a:endCxn id="66" idx="0"/>
          </p:cNvCxnSpPr>
          <p:nvPr/>
        </p:nvCxnSpPr>
        <p:spPr>
          <a:xfrm flipH="1">
            <a:off x="1084088" y="3129878"/>
            <a:ext cx="1" cy="32980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C465EFA-4352-211A-77BD-EA5EA95F6C75}"/>
              </a:ext>
            </a:extLst>
          </p:cNvPr>
          <p:cNvCxnSpPr>
            <a:cxnSpLocks/>
            <a:stCxn id="54" idx="3"/>
            <a:endCxn id="73" idx="1"/>
          </p:cNvCxnSpPr>
          <p:nvPr/>
        </p:nvCxnSpPr>
        <p:spPr>
          <a:xfrm>
            <a:off x="1900065" y="5036812"/>
            <a:ext cx="800530" cy="635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543A5FD-00A9-B343-87EF-973F49FB23D4}"/>
              </a:ext>
            </a:extLst>
          </p:cNvPr>
          <p:cNvCxnSpPr>
            <a:cxnSpLocks/>
            <a:stCxn id="73" idx="3"/>
            <a:endCxn id="27" idx="1"/>
          </p:cNvCxnSpPr>
          <p:nvPr/>
        </p:nvCxnSpPr>
        <p:spPr>
          <a:xfrm flipV="1">
            <a:off x="4564564" y="5039939"/>
            <a:ext cx="475405" cy="3224"/>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8421C7A-B895-CCDF-7256-D49E5D964060}"/>
              </a:ext>
            </a:extLst>
          </p:cNvPr>
          <p:cNvSpPr txBox="1"/>
          <p:nvPr/>
        </p:nvSpPr>
        <p:spPr>
          <a:xfrm>
            <a:off x="0" y="5940555"/>
            <a:ext cx="12192000" cy="738664"/>
          </a:xfrm>
          <a:prstGeom prst="rect">
            <a:avLst/>
          </a:prstGeom>
          <a:solidFill>
            <a:schemeClr val="bg1"/>
          </a:solidFill>
        </p:spPr>
        <p:txBody>
          <a:bodyPr wrap="square" rtlCol="0">
            <a:spAutoFit/>
          </a:bodyPr>
          <a:lstStyle/>
          <a:p>
            <a:r>
              <a:rPr lang="en-US" dirty="0"/>
              <a:t>Current Condition	: Passthrough &amp; Customer PCR activity </a:t>
            </a:r>
            <a:r>
              <a:rPr lang="en-US" b="1" dirty="0"/>
              <a:t>lead by Sales OE</a:t>
            </a:r>
          </a:p>
          <a:p>
            <a:r>
              <a:rPr lang="en-US" dirty="0"/>
              <a:t>Proposed Condition 	: Passthrough &amp; Customer PCR activity </a:t>
            </a:r>
            <a:r>
              <a:rPr lang="en-US" b="1" dirty="0"/>
              <a:t>lead by PE</a:t>
            </a:r>
            <a:r>
              <a:rPr lang="en-US" dirty="0"/>
              <a:t>, </a:t>
            </a:r>
            <a:r>
              <a:rPr lang="en-US" i="1" dirty="0"/>
              <a:t>Internal Review : Localization &amp; Customer Approval Need review lead by PE. For Localization Request will submit to GHQ by PE or Sales Marketing.</a:t>
            </a:r>
          </a:p>
        </p:txBody>
      </p:sp>
      <p:sp>
        <p:nvSpPr>
          <p:cNvPr id="47" name="Rectangle 46">
            <a:extLst>
              <a:ext uri="{FF2B5EF4-FFF2-40B4-BE49-F238E27FC236}">
                <a16:creationId xmlns:a16="http://schemas.microsoft.com/office/drawing/2014/main" id="{DF1BE480-7F55-656B-09B3-817302A1C73E}"/>
              </a:ext>
            </a:extLst>
          </p:cNvPr>
          <p:cNvSpPr/>
          <p:nvPr/>
        </p:nvSpPr>
        <p:spPr>
          <a:xfrm>
            <a:off x="2692960" y="4188886"/>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Passthrough PCR</a:t>
            </a:r>
          </a:p>
        </p:txBody>
      </p:sp>
      <p:cxnSp>
        <p:nvCxnSpPr>
          <p:cNvPr id="48" name="Straight Arrow Connector 47">
            <a:extLst>
              <a:ext uri="{FF2B5EF4-FFF2-40B4-BE49-F238E27FC236}">
                <a16:creationId xmlns:a16="http://schemas.microsoft.com/office/drawing/2014/main" id="{C88077AE-FF7A-96E0-FB24-7EBA84EF51C0}"/>
              </a:ext>
            </a:extLst>
          </p:cNvPr>
          <p:cNvCxnSpPr>
            <a:cxnSpLocks/>
            <a:stCxn id="47" idx="2"/>
            <a:endCxn id="73" idx="0"/>
          </p:cNvCxnSpPr>
          <p:nvPr/>
        </p:nvCxnSpPr>
        <p:spPr>
          <a:xfrm>
            <a:off x="3624945" y="4554646"/>
            <a:ext cx="7635" cy="305637"/>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371320E-8A35-CBCA-DE2D-548A698202B9}"/>
              </a:ext>
            </a:extLst>
          </p:cNvPr>
          <p:cNvSpPr/>
          <p:nvPr/>
        </p:nvSpPr>
        <p:spPr>
          <a:xfrm>
            <a:off x="7580671" y="2199516"/>
            <a:ext cx="4564203" cy="1513938"/>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56C00E-ACC0-1F2C-7207-3E96510306E2}"/>
              </a:ext>
            </a:extLst>
          </p:cNvPr>
          <p:cNvSpPr/>
          <p:nvPr/>
        </p:nvSpPr>
        <p:spPr>
          <a:xfrm>
            <a:off x="7580671" y="4146329"/>
            <a:ext cx="4575233" cy="1513938"/>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7760D82-F314-A346-4F94-13C3B41B3EFB}"/>
              </a:ext>
            </a:extLst>
          </p:cNvPr>
          <p:cNvSpPr txBox="1"/>
          <p:nvPr/>
        </p:nvSpPr>
        <p:spPr>
          <a:xfrm>
            <a:off x="7688385" y="4203848"/>
            <a:ext cx="1695305" cy="400110"/>
          </a:xfrm>
          <a:prstGeom prst="rect">
            <a:avLst/>
          </a:prstGeom>
          <a:noFill/>
          <a:ln>
            <a:solidFill>
              <a:schemeClr val="bg1"/>
            </a:solidFill>
          </a:ln>
        </p:spPr>
        <p:txBody>
          <a:bodyPr wrap="square" rtlCol="0">
            <a:spAutoFit/>
          </a:bodyPr>
          <a:lstStyle/>
          <a:p>
            <a:r>
              <a:rPr lang="en-US" sz="2000" b="1" dirty="0"/>
              <a:t>Customers</a:t>
            </a:r>
          </a:p>
        </p:txBody>
      </p:sp>
      <p:cxnSp>
        <p:nvCxnSpPr>
          <p:cNvPr id="23" name="Connector: Elbow 22">
            <a:extLst>
              <a:ext uri="{FF2B5EF4-FFF2-40B4-BE49-F238E27FC236}">
                <a16:creationId xmlns:a16="http://schemas.microsoft.com/office/drawing/2014/main" id="{5E64E05A-E580-A62D-BD7D-7F2681AC7EC9}"/>
              </a:ext>
            </a:extLst>
          </p:cNvPr>
          <p:cNvCxnSpPr>
            <a:cxnSpLocks/>
            <a:stCxn id="46" idx="3"/>
          </p:cNvCxnSpPr>
          <p:nvPr/>
        </p:nvCxnSpPr>
        <p:spPr>
          <a:xfrm>
            <a:off x="2014824" y="2327193"/>
            <a:ext cx="2883122" cy="490811"/>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7B9732A-CB6E-67FA-F140-B2F2DAC72C22}"/>
              </a:ext>
            </a:extLst>
          </p:cNvPr>
          <p:cNvCxnSpPr>
            <a:cxnSpLocks/>
            <a:stCxn id="73" idx="2"/>
            <a:endCxn id="55" idx="0"/>
          </p:cNvCxnSpPr>
          <p:nvPr/>
        </p:nvCxnSpPr>
        <p:spPr>
          <a:xfrm>
            <a:off x="3632580" y="5226043"/>
            <a:ext cx="0" cy="20775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5119D9FF-8164-95A3-6DC6-8B8DFBE1CBBD}"/>
              </a:ext>
            </a:extLst>
          </p:cNvPr>
          <p:cNvCxnSpPr>
            <a:stCxn id="47" idx="3"/>
            <a:endCxn id="27" idx="0"/>
          </p:cNvCxnSpPr>
          <p:nvPr/>
        </p:nvCxnSpPr>
        <p:spPr>
          <a:xfrm>
            <a:off x="4556929" y="4371766"/>
            <a:ext cx="1415025" cy="486759"/>
          </a:xfrm>
          <a:prstGeom prst="bentConnector2">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EA6A8CB-8B08-D17F-A1F8-0E05C9EE5AD4}"/>
              </a:ext>
            </a:extLst>
          </p:cNvPr>
          <p:cNvSpPr/>
          <p:nvPr/>
        </p:nvSpPr>
        <p:spPr>
          <a:xfrm>
            <a:off x="2413519" y="3465350"/>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Local Supplier PCR</a:t>
            </a:r>
          </a:p>
        </p:txBody>
      </p:sp>
      <p:cxnSp>
        <p:nvCxnSpPr>
          <p:cNvPr id="52" name="Straight Arrow Connector 51">
            <a:extLst>
              <a:ext uri="{FF2B5EF4-FFF2-40B4-BE49-F238E27FC236}">
                <a16:creationId xmlns:a16="http://schemas.microsoft.com/office/drawing/2014/main" id="{C2FA313C-866E-A72F-3985-C1495452E43C}"/>
              </a:ext>
            </a:extLst>
          </p:cNvPr>
          <p:cNvCxnSpPr>
            <a:cxnSpLocks/>
            <a:stCxn id="66" idx="3"/>
            <a:endCxn id="51" idx="1"/>
          </p:cNvCxnSpPr>
          <p:nvPr/>
        </p:nvCxnSpPr>
        <p:spPr>
          <a:xfrm>
            <a:off x="2016072" y="3642564"/>
            <a:ext cx="397447" cy="566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1875D479-4B34-C9CB-FA8F-2BC56AC145BA}"/>
              </a:ext>
            </a:extLst>
          </p:cNvPr>
          <p:cNvSpPr/>
          <p:nvPr/>
        </p:nvSpPr>
        <p:spPr>
          <a:xfrm>
            <a:off x="36096" y="5434651"/>
            <a:ext cx="1863969" cy="365760"/>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Local Supplier PCR</a:t>
            </a:r>
          </a:p>
        </p:txBody>
      </p:sp>
      <p:cxnSp>
        <p:nvCxnSpPr>
          <p:cNvPr id="58" name="Straight Arrow Connector 57">
            <a:extLst>
              <a:ext uri="{FF2B5EF4-FFF2-40B4-BE49-F238E27FC236}">
                <a16:creationId xmlns:a16="http://schemas.microsoft.com/office/drawing/2014/main" id="{F94883F2-9D47-757E-63B7-EF6799706EE3}"/>
              </a:ext>
            </a:extLst>
          </p:cNvPr>
          <p:cNvCxnSpPr>
            <a:cxnSpLocks/>
            <a:stCxn id="57" idx="3"/>
            <a:endCxn id="55" idx="1"/>
          </p:cNvCxnSpPr>
          <p:nvPr/>
        </p:nvCxnSpPr>
        <p:spPr>
          <a:xfrm flipV="1">
            <a:off x="1900065" y="5616674"/>
            <a:ext cx="800530" cy="857"/>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910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FD3F-34D7-368D-C39B-4B1219EE7EC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6DC45B3-1FE8-9688-AC88-EA39FA7392BF}"/>
              </a:ext>
            </a:extLst>
          </p:cNvPr>
          <p:cNvGraphicFramePr>
            <a:graphicFrameLocks noGrp="1"/>
          </p:cNvGraphicFramePr>
          <p:nvPr>
            <p:extLst>
              <p:ext uri="{D42A27DB-BD31-4B8C-83A1-F6EECF244321}">
                <p14:modId xmlns:p14="http://schemas.microsoft.com/office/powerpoint/2010/main" val="2935267351"/>
              </p:ext>
            </p:extLst>
          </p:nvPr>
        </p:nvGraphicFramePr>
        <p:xfrm>
          <a:off x="121921" y="902526"/>
          <a:ext cx="11682151" cy="5590592"/>
        </p:xfrm>
        <a:graphic>
          <a:graphicData uri="http://schemas.openxmlformats.org/drawingml/2006/table">
            <a:tbl>
              <a:tblPr>
                <a:tableStyleId>{5C22544A-7EE6-4342-B048-85BDC9FD1C3A}</a:tableStyleId>
              </a:tblPr>
              <a:tblGrid>
                <a:gridCol w="759886">
                  <a:extLst>
                    <a:ext uri="{9D8B030D-6E8A-4147-A177-3AD203B41FA5}">
                      <a16:colId xmlns:a16="http://schemas.microsoft.com/office/drawing/2014/main" val="3557149166"/>
                    </a:ext>
                  </a:extLst>
                </a:gridCol>
                <a:gridCol w="1150408">
                  <a:extLst>
                    <a:ext uri="{9D8B030D-6E8A-4147-A177-3AD203B41FA5}">
                      <a16:colId xmlns:a16="http://schemas.microsoft.com/office/drawing/2014/main" val="2139141916"/>
                    </a:ext>
                  </a:extLst>
                </a:gridCol>
                <a:gridCol w="2922301">
                  <a:extLst>
                    <a:ext uri="{9D8B030D-6E8A-4147-A177-3AD203B41FA5}">
                      <a16:colId xmlns:a16="http://schemas.microsoft.com/office/drawing/2014/main" val="2563568646"/>
                    </a:ext>
                  </a:extLst>
                </a:gridCol>
                <a:gridCol w="3636348">
                  <a:extLst>
                    <a:ext uri="{9D8B030D-6E8A-4147-A177-3AD203B41FA5}">
                      <a16:colId xmlns:a16="http://schemas.microsoft.com/office/drawing/2014/main" val="1876772290"/>
                    </a:ext>
                  </a:extLst>
                </a:gridCol>
                <a:gridCol w="3213208">
                  <a:extLst>
                    <a:ext uri="{9D8B030D-6E8A-4147-A177-3AD203B41FA5}">
                      <a16:colId xmlns:a16="http://schemas.microsoft.com/office/drawing/2014/main" val="40197367"/>
                    </a:ext>
                  </a:extLst>
                </a:gridCol>
              </a:tblGrid>
              <a:tr h="353469">
                <a:tc gridSpan="2">
                  <a:txBody>
                    <a:bodyPr/>
                    <a:lstStyle/>
                    <a:p>
                      <a:pPr algn="ctr" rtl="0" fontAlgn="ctr"/>
                      <a:r>
                        <a:rPr lang="en-US" sz="1600" u="none" strike="noStrike" dirty="0">
                          <a:solidFill>
                            <a:schemeClr val="bg1"/>
                          </a:solidFill>
                          <a:effectLst/>
                        </a:rPr>
                        <a:t>Step</a:t>
                      </a:r>
                      <a:endParaRPr lang="en-US" sz="1600" b="0" i="0" u="none" strike="noStrike" dirty="0">
                        <a:solidFill>
                          <a:schemeClr val="bg1"/>
                        </a:solidFill>
                        <a:effectLst/>
                        <a:latin typeface="Arial" panose="020B0604020202020204" pitchFamily="34" charset="0"/>
                      </a:endParaRPr>
                    </a:p>
                  </a:txBody>
                  <a:tcPr marL="4144" marR="4144" marT="4144" marB="0" anchor="ctr">
                    <a:solidFill>
                      <a:schemeClr val="tx1">
                        <a:lumMod val="65000"/>
                        <a:lumOff val="35000"/>
                      </a:schemeClr>
                    </a:solidFill>
                  </a:tcPr>
                </a:tc>
                <a:tc hMerge="1">
                  <a:txBody>
                    <a:bodyPr/>
                    <a:lstStyle/>
                    <a:p>
                      <a:endParaRPr lang="en-US"/>
                    </a:p>
                  </a:txBody>
                  <a:tcPr/>
                </a:tc>
                <a:tc>
                  <a:txBody>
                    <a:bodyPr/>
                    <a:lstStyle/>
                    <a:p>
                      <a:pPr algn="ctr" rtl="0" fontAlgn="ctr"/>
                      <a:r>
                        <a:rPr lang="en-US" sz="1400" b="1" u="none" strike="noStrike" dirty="0">
                          <a:solidFill>
                            <a:schemeClr val="bg1"/>
                          </a:solidFill>
                          <a:effectLst/>
                        </a:rPr>
                        <a:t>Before</a:t>
                      </a:r>
                      <a:endParaRPr lang="en-US" sz="1400" b="1" i="0" u="none" strike="noStrike" dirty="0">
                        <a:solidFill>
                          <a:schemeClr val="bg1"/>
                        </a:solidFill>
                        <a:effectLst/>
                        <a:latin typeface="Arial" panose="020B0604020202020204" pitchFamily="34" charset="0"/>
                      </a:endParaRPr>
                    </a:p>
                  </a:txBody>
                  <a:tcPr marL="4144" marR="4144" marT="4144" marB="0" anchor="ctr">
                    <a:solidFill>
                      <a:schemeClr val="accent5">
                        <a:lumMod val="75000"/>
                      </a:schemeClr>
                    </a:solidFill>
                  </a:tcPr>
                </a:tc>
                <a:tc>
                  <a:txBody>
                    <a:bodyPr/>
                    <a:lstStyle/>
                    <a:p>
                      <a:pPr algn="ctr" rtl="0" fontAlgn="ctr"/>
                      <a:r>
                        <a:rPr lang="en-US" sz="1400" b="1" u="none" strike="noStrike" dirty="0">
                          <a:solidFill>
                            <a:schemeClr val="bg1"/>
                          </a:solidFill>
                          <a:effectLst/>
                        </a:rPr>
                        <a:t>After</a:t>
                      </a:r>
                      <a:endParaRPr lang="en-US" sz="1400" b="1" i="0" u="none" strike="noStrike" dirty="0">
                        <a:solidFill>
                          <a:schemeClr val="bg1"/>
                        </a:solidFill>
                        <a:effectLst/>
                        <a:latin typeface="Arial" panose="020B0604020202020204" pitchFamily="34" charset="0"/>
                      </a:endParaRPr>
                    </a:p>
                  </a:txBody>
                  <a:tcPr marL="4144" marR="4144" marT="4144" marB="0" anchor="ctr">
                    <a:solidFill>
                      <a:schemeClr val="accent5">
                        <a:lumMod val="75000"/>
                      </a:schemeClr>
                    </a:solidFill>
                  </a:tcPr>
                </a:tc>
                <a:tc>
                  <a:txBody>
                    <a:bodyPr/>
                    <a:lstStyle/>
                    <a:p>
                      <a:pPr algn="ctr" rtl="0" fontAlgn="ctr"/>
                      <a:r>
                        <a:rPr lang="en-US" sz="1400" b="1" u="none" strike="noStrike" dirty="0">
                          <a:solidFill>
                            <a:schemeClr val="bg1"/>
                          </a:solidFill>
                          <a:effectLst/>
                        </a:rPr>
                        <a:t>Remark</a:t>
                      </a:r>
                      <a:endParaRPr lang="en-US" sz="1400" b="1" i="0" u="none" strike="noStrike" dirty="0">
                        <a:solidFill>
                          <a:schemeClr val="bg1"/>
                        </a:solidFill>
                        <a:effectLst/>
                        <a:latin typeface="Arial" panose="020B0604020202020204" pitchFamily="34" charset="0"/>
                      </a:endParaRPr>
                    </a:p>
                  </a:txBody>
                  <a:tcPr marL="4144" marR="4144" marT="4144" marB="0" anchor="ctr">
                    <a:solidFill>
                      <a:schemeClr val="accent5">
                        <a:lumMod val="75000"/>
                      </a:schemeClr>
                    </a:solidFill>
                  </a:tcPr>
                </a:tc>
                <a:extLst>
                  <a:ext uri="{0D108BD9-81ED-4DB2-BD59-A6C34878D82A}">
                    <a16:rowId xmlns:a16="http://schemas.microsoft.com/office/drawing/2014/main" val="3703440193"/>
                  </a:ext>
                </a:extLst>
              </a:tr>
              <a:tr h="855155">
                <a:tc rowSpan="2">
                  <a:txBody>
                    <a:bodyPr/>
                    <a:lstStyle/>
                    <a:p>
                      <a:pPr algn="ctr" rtl="0" fontAlgn="ctr"/>
                      <a:r>
                        <a:rPr lang="en-US" sz="1400" b="1" u="none" strike="noStrike" dirty="0">
                          <a:solidFill>
                            <a:schemeClr val="bg1"/>
                          </a:solidFill>
                          <a:effectLst/>
                        </a:rPr>
                        <a:t>Input</a:t>
                      </a:r>
                      <a:endParaRPr lang="en-US" sz="1400" b="1" i="0" u="none" strike="noStrike" dirty="0">
                        <a:solidFill>
                          <a:schemeClr val="bg1"/>
                        </a:solidFill>
                        <a:effectLst/>
                        <a:latin typeface="Arial" panose="020B0604020202020204" pitchFamily="34" charset="0"/>
                      </a:endParaRPr>
                    </a:p>
                  </a:txBody>
                  <a:tcPr marL="4144" marR="4144" marT="4144" marB="0" vert="vert270" anchor="ctr">
                    <a:solidFill>
                      <a:schemeClr val="accent5">
                        <a:lumMod val="75000"/>
                      </a:schemeClr>
                    </a:solidFill>
                  </a:tcPr>
                </a:tc>
                <a:tc>
                  <a:txBody>
                    <a:bodyPr/>
                    <a:lstStyle/>
                    <a:p>
                      <a:pPr algn="l" rtl="0" fontAlgn="ctr"/>
                      <a:r>
                        <a:rPr lang="en-US" sz="1400" b="0" u="none" strike="noStrike" dirty="0">
                          <a:solidFill>
                            <a:schemeClr val="tx1"/>
                          </a:solidFill>
                          <a:effectLst/>
                        </a:rPr>
                        <a:t>Item</a:t>
                      </a:r>
                      <a:endParaRPr lang="en-US" sz="1400" b="0" i="0" u="none" strike="noStrike" dirty="0">
                        <a:solidFill>
                          <a:schemeClr val="tx1"/>
                        </a:solidFill>
                        <a:effectLst/>
                        <a:latin typeface="Arial" panose="020B0604020202020204" pitchFamily="34" charset="0"/>
                      </a:endParaRPr>
                    </a:p>
                  </a:txBody>
                  <a:tcPr marL="4144" marR="4144" marT="4144" marB="0" anchor="ctr"/>
                </a:tc>
                <a:tc>
                  <a:txBody>
                    <a:bodyPr/>
                    <a:lstStyle/>
                    <a:p>
                      <a:pPr algn="l" rtl="0" fontAlgn="ctr"/>
                      <a:r>
                        <a:rPr lang="en-US" sz="1400" b="0" u="none" strike="noStrike" dirty="0">
                          <a:solidFill>
                            <a:schemeClr val="tx1"/>
                          </a:solidFill>
                          <a:effectLst/>
                        </a:rPr>
                        <a:t>External : K/D, Passthrough, Supplier</a:t>
                      </a:r>
                    </a:p>
                    <a:p>
                      <a:pPr algn="l" rtl="0" fontAlgn="ctr"/>
                      <a:r>
                        <a:rPr lang="en-US" sz="1400" b="0" i="0" u="none" strike="noStrike" dirty="0">
                          <a:solidFill>
                            <a:schemeClr val="tx1"/>
                          </a:solidFill>
                          <a:effectLst/>
                          <a:latin typeface="Arial" panose="020B0604020202020204" pitchFamily="34" charset="0"/>
                        </a:rPr>
                        <a:t>Internal : </a:t>
                      </a:r>
                      <a:r>
                        <a:rPr lang="en-US" sz="1400" b="0" i="0" u="none" strike="noStrike" dirty="0" err="1">
                          <a:solidFill>
                            <a:schemeClr val="tx1"/>
                          </a:solidFill>
                          <a:effectLst/>
                          <a:latin typeface="Arial" panose="020B0604020202020204" pitchFamily="34" charset="0"/>
                        </a:rPr>
                        <a:t>Niterra</a:t>
                      </a:r>
                      <a:r>
                        <a:rPr lang="en-US" sz="1400" b="0" i="0" u="none" strike="noStrike" dirty="0">
                          <a:solidFill>
                            <a:schemeClr val="tx1"/>
                          </a:solidFill>
                          <a:effectLst/>
                          <a:latin typeface="Arial" panose="020B0604020202020204" pitchFamily="34" charset="0"/>
                        </a:rPr>
                        <a:t> INA</a:t>
                      </a:r>
                    </a:p>
                  </a:txBody>
                  <a:tcPr marL="4144" marR="4144" marT="4144" marB="0" anchor="ctr"/>
                </a:tc>
                <a:tc>
                  <a:txBody>
                    <a:bodyPr/>
                    <a:lstStyle/>
                    <a:p>
                      <a:pPr algn="l" rtl="0" fontAlgn="ctr"/>
                      <a:r>
                        <a:rPr lang="en-US" sz="1400" b="0" u="none" strike="noStrike" dirty="0">
                          <a:solidFill>
                            <a:schemeClr val="tx1"/>
                          </a:solidFill>
                          <a:effectLst/>
                        </a:rPr>
                        <a:t>External : K/D, Passthrough, Supplier</a:t>
                      </a:r>
                    </a:p>
                    <a:p>
                      <a:pPr algn="l" rtl="0" fontAlgn="ctr"/>
                      <a:r>
                        <a:rPr lang="en-US" sz="1400" b="0" i="0" u="none" strike="noStrike" dirty="0">
                          <a:solidFill>
                            <a:schemeClr val="tx1"/>
                          </a:solidFill>
                          <a:effectLst/>
                          <a:latin typeface="Arial" panose="020B0604020202020204" pitchFamily="34" charset="0"/>
                        </a:rPr>
                        <a:t>Internal : </a:t>
                      </a:r>
                      <a:r>
                        <a:rPr lang="en-US" sz="1400" b="0" i="0" u="none" strike="noStrike" dirty="0" err="1">
                          <a:solidFill>
                            <a:schemeClr val="tx1"/>
                          </a:solidFill>
                          <a:effectLst/>
                          <a:latin typeface="Arial" panose="020B0604020202020204" pitchFamily="34" charset="0"/>
                        </a:rPr>
                        <a:t>Niterra</a:t>
                      </a:r>
                      <a:r>
                        <a:rPr lang="en-US" sz="1400" b="0" i="0" u="none" strike="noStrike" dirty="0">
                          <a:solidFill>
                            <a:schemeClr val="tx1"/>
                          </a:solidFill>
                          <a:effectLst/>
                          <a:latin typeface="Arial" panose="020B0604020202020204" pitchFamily="34" charset="0"/>
                        </a:rPr>
                        <a:t> INA</a:t>
                      </a:r>
                    </a:p>
                  </a:txBody>
                  <a:tcPr marL="4144" marR="4144" marT="4144" marB="0" anchor="ctr">
                    <a:solidFill>
                      <a:schemeClr val="accent1">
                        <a:lumMod val="20000"/>
                        <a:lumOff val="80000"/>
                      </a:schemeClr>
                    </a:solidFill>
                  </a:tcPr>
                </a:tc>
                <a:tc rowSpan="2">
                  <a:txBody>
                    <a:bodyPr/>
                    <a:lstStyle/>
                    <a:p>
                      <a:pPr algn="l" rtl="0" fontAlgn="ctr"/>
                      <a:r>
                        <a:rPr lang="en-US" sz="1400" b="0" u="none" strike="noStrike" dirty="0">
                          <a:solidFill>
                            <a:schemeClr val="tx1"/>
                          </a:solidFill>
                          <a:effectLst/>
                        </a:rPr>
                        <a:t>Originator Dept are department where item of changes are initially triggered. </a:t>
                      </a:r>
                      <a:endParaRPr lang="en-US" sz="1400" b="0" i="0" u="none" strike="noStrike" dirty="0">
                        <a:solidFill>
                          <a:schemeClr val="tx1"/>
                        </a:solidFill>
                        <a:effectLst/>
                        <a:latin typeface="Arial" panose="020B0604020202020204" pitchFamily="34" charset="0"/>
                      </a:endParaRPr>
                    </a:p>
                  </a:txBody>
                  <a:tcPr marL="4144" marR="4144" marT="4144" marB="0" anchor="ctr"/>
                </a:tc>
                <a:extLst>
                  <a:ext uri="{0D108BD9-81ED-4DB2-BD59-A6C34878D82A}">
                    <a16:rowId xmlns:a16="http://schemas.microsoft.com/office/drawing/2014/main" val="2802700756"/>
                  </a:ext>
                </a:extLst>
              </a:tr>
              <a:tr h="597776">
                <a:tc vMerge="1">
                  <a:txBody>
                    <a:bodyPr/>
                    <a:lstStyle/>
                    <a:p>
                      <a:endParaRPr lang="en-US"/>
                    </a:p>
                  </a:txBody>
                  <a:tcPr/>
                </a:tc>
                <a:tc>
                  <a:txBody>
                    <a:bodyPr/>
                    <a:lstStyle/>
                    <a:p>
                      <a:pPr algn="l" rtl="0" fontAlgn="ctr"/>
                      <a:r>
                        <a:rPr lang="en-US" sz="1400" b="0" u="none" strike="noStrike" dirty="0">
                          <a:solidFill>
                            <a:schemeClr val="tx1"/>
                          </a:solidFill>
                          <a:effectLst/>
                        </a:rPr>
                        <a:t>Change Point</a:t>
                      </a:r>
                      <a:endParaRPr lang="en-US" sz="1400" b="0" i="0" u="none" strike="noStrike" dirty="0">
                        <a:solidFill>
                          <a:schemeClr val="tx1"/>
                        </a:solidFill>
                        <a:effectLst/>
                        <a:latin typeface="Arial" panose="020B0604020202020204" pitchFamily="34" charset="0"/>
                      </a:endParaRPr>
                    </a:p>
                  </a:txBody>
                  <a:tcPr marL="4144" marR="4144" marT="4144" marB="0" anchor="ctr"/>
                </a:tc>
                <a:tc>
                  <a:txBody>
                    <a:bodyPr/>
                    <a:lstStyle/>
                    <a:p>
                      <a:pPr algn="l" rtl="0" fontAlgn="ctr"/>
                      <a:r>
                        <a:rPr lang="en-US" sz="1400" b="0" u="none" strike="noStrike" dirty="0">
                          <a:solidFill>
                            <a:schemeClr val="tx1"/>
                          </a:solidFill>
                          <a:effectLst/>
                        </a:rPr>
                        <a:t>No Localization Stage</a:t>
                      </a:r>
                      <a:endParaRPr lang="en-US" sz="1400" b="0" i="0" u="none" strike="noStrike" dirty="0">
                        <a:solidFill>
                          <a:schemeClr val="tx1"/>
                        </a:solidFill>
                        <a:effectLst/>
                        <a:latin typeface="Tahoma" panose="020B0604030504040204" pitchFamily="34" charset="0"/>
                      </a:endParaRPr>
                    </a:p>
                  </a:txBody>
                  <a:tcPr marL="4144" marR="4144" marT="4144" marB="0" anchor="ctr"/>
                </a:tc>
                <a:tc>
                  <a:txBody>
                    <a:bodyPr/>
                    <a:lstStyle/>
                    <a:p>
                      <a:pPr algn="l" rtl="0" fontAlgn="ctr"/>
                      <a:r>
                        <a:rPr lang="en-US" sz="1400" b="1" i="1" u="none" strike="noStrike" dirty="0">
                          <a:solidFill>
                            <a:srgbClr val="0070C0"/>
                          </a:solidFill>
                          <a:effectLst/>
                        </a:rPr>
                        <a:t>Must Pass Localization Stage</a:t>
                      </a:r>
                      <a:endParaRPr lang="en-US" sz="1400" b="1" i="1" u="none" strike="noStrike" dirty="0">
                        <a:solidFill>
                          <a:srgbClr val="0070C0"/>
                        </a:solidFill>
                        <a:effectLst/>
                        <a:latin typeface="Arial" panose="020B0604020202020204" pitchFamily="34" charset="0"/>
                      </a:endParaRPr>
                    </a:p>
                  </a:txBody>
                  <a:tcPr marL="4144" marR="4144" marT="4144" marB="0" anchor="ctr">
                    <a:solidFill>
                      <a:schemeClr val="accent1">
                        <a:lumMod val="20000"/>
                        <a:lumOff val="80000"/>
                      </a:schemeClr>
                    </a:solidFill>
                  </a:tcPr>
                </a:tc>
                <a:tc vMerge="1">
                  <a:txBody>
                    <a:bodyPr/>
                    <a:lstStyle/>
                    <a:p>
                      <a:pPr algn="l" rtl="0" fontAlgn="ctr"/>
                      <a:endParaRPr lang="en-US" sz="1050" b="0" i="0" u="none" strike="noStrike" dirty="0">
                        <a:solidFill>
                          <a:srgbClr val="000000"/>
                        </a:solidFill>
                        <a:effectLst/>
                        <a:latin typeface="Arial" panose="020B0604020202020204" pitchFamily="34" charset="0"/>
                      </a:endParaRPr>
                    </a:p>
                  </a:txBody>
                  <a:tcPr marL="4144" marR="4144" marT="4144" marB="0" anchor="ctr"/>
                </a:tc>
                <a:extLst>
                  <a:ext uri="{0D108BD9-81ED-4DB2-BD59-A6C34878D82A}">
                    <a16:rowId xmlns:a16="http://schemas.microsoft.com/office/drawing/2014/main" val="4145387615"/>
                  </a:ext>
                </a:extLst>
              </a:tr>
              <a:tr h="1055208">
                <a:tc rowSpan="2">
                  <a:txBody>
                    <a:bodyPr/>
                    <a:lstStyle/>
                    <a:p>
                      <a:pPr algn="ctr" rtl="0" fontAlgn="ctr"/>
                      <a:r>
                        <a:rPr lang="en-US" sz="1400" b="1" u="none" strike="noStrike" dirty="0">
                          <a:solidFill>
                            <a:schemeClr val="bg1"/>
                          </a:solidFill>
                          <a:effectLst/>
                        </a:rPr>
                        <a:t>Process</a:t>
                      </a:r>
                      <a:endParaRPr lang="en-US" sz="1400" b="1" i="0" u="none" strike="noStrike" dirty="0">
                        <a:solidFill>
                          <a:schemeClr val="bg1"/>
                        </a:solidFill>
                        <a:effectLst/>
                        <a:latin typeface="Arial" panose="020B0604020202020204" pitchFamily="34" charset="0"/>
                      </a:endParaRPr>
                    </a:p>
                  </a:txBody>
                  <a:tcPr marL="4144" marR="4144" marT="4144" marB="0" vert="vert270" anchor="ctr">
                    <a:solidFill>
                      <a:schemeClr val="accent5">
                        <a:lumMod val="75000"/>
                      </a:schemeClr>
                    </a:solidFill>
                  </a:tcPr>
                </a:tc>
                <a:tc>
                  <a:txBody>
                    <a:bodyPr/>
                    <a:lstStyle/>
                    <a:p>
                      <a:pPr algn="l" rtl="0" fontAlgn="ctr"/>
                      <a:r>
                        <a:rPr lang="en-US" sz="1400" b="0" u="none" strike="noStrike" dirty="0">
                          <a:solidFill>
                            <a:schemeClr val="tx1"/>
                          </a:solidFill>
                          <a:effectLst/>
                        </a:rPr>
                        <a:t>Item</a:t>
                      </a:r>
                      <a:endParaRPr lang="en-US" sz="1400" b="0" i="0" u="none" strike="noStrike" dirty="0">
                        <a:solidFill>
                          <a:schemeClr val="tx1"/>
                        </a:solidFill>
                        <a:effectLst/>
                        <a:latin typeface="Arial" panose="020B0604020202020204" pitchFamily="34" charset="0"/>
                      </a:endParaRPr>
                    </a:p>
                  </a:txBody>
                  <a:tcPr marL="4144" marR="4144" marT="4144" marB="0" anchor="ctr">
                    <a:solidFill>
                      <a:schemeClr val="accent1">
                        <a:lumMod val="20000"/>
                        <a:lumOff val="80000"/>
                      </a:schemeClr>
                    </a:solidFill>
                  </a:tcPr>
                </a:tc>
                <a:tc>
                  <a:txBody>
                    <a:bodyPr/>
                    <a:lstStyle/>
                    <a:p>
                      <a:pPr marL="228600" indent="-228600" algn="l" rtl="0" fontAlgn="ctr">
                        <a:buAutoNum type="arabicParenR"/>
                      </a:pPr>
                      <a:r>
                        <a:rPr lang="en-US" sz="1400" b="0" u="none" strike="noStrike" dirty="0">
                          <a:solidFill>
                            <a:schemeClr val="tx1"/>
                          </a:solidFill>
                          <a:effectLst/>
                        </a:rPr>
                        <a:t>Sales, PE, Quality As Window Dept</a:t>
                      </a:r>
                    </a:p>
                    <a:p>
                      <a:pPr marL="228600" indent="-228600" algn="l" rtl="0" fontAlgn="ctr">
                        <a:buAutoNum type="arabicParenR"/>
                      </a:pPr>
                      <a:r>
                        <a:rPr lang="en-US" sz="1400" b="0" u="none" strike="noStrike" dirty="0">
                          <a:solidFill>
                            <a:schemeClr val="tx1"/>
                          </a:solidFill>
                          <a:effectLst/>
                        </a:rPr>
                        <a:t>PE &amp; Sales control &amp; monitoring PCR Event</a:t>
                      </a:r>
                      <a:endParaRPr lang="fr-FR" sz="1400" b="0" u="none" strike="noStrike" dirty="0">
                        <a:solidFill>
                          <a:schemeClr val="tx1"/>
                        </a:solidFill>
                        <a:effectLst/>
                      </a:endParaRPr>
                    </a:p>
                  </a:txBody>
                  <a:tcPr marL="4144" marR="4144" marT="4144" marB="0" anchor="ctr">
                    <a:solidFill>
                      <a:schemeClr val="accent1">
                        <a:lumMod val="20000"/>
                        <a:lumOff val="80000"/>
                      </a:schemeClr>
                    </a:solidFill>
                  </a:tcPr>
                </a:tc>
                <a:tc>
                  <a:txBody>
                    <a:bodyPr/>
                    <a:lstStyle/>
                    <a:p>
                      <a:pPr algn="l" rtl="0" fontAlgn="ctr"/>
                      <a:r>
                        <a:rPr lang="en-US" sz="1400" b="1" i="1" u="none" strike="noStrike" dirty="0">
                          <a:solidFill>
                            <a:srgbClr val="0070C0"/>
                          </a:solidFill>
                          <a:effectLst/>
                        </a:rPr>
                        <a:t>1) PE as Window Dept </a:t>
                      </a:r>
                    </a:p>
                    <a:p>
                      <a:pPr algn="l" rtl="0" fontAlgn="ctr"/>
                      <a:r>
                        <a:rPr lang="it-IT" sz="1400" b="1" i="1" u="none" strike="noStrike" dirty="0">
                          <a:solidFill>
                            <a:srgbClr val="0070C0"/>
                          </a:solidFill>
                          <a:effectLst/>
                        </a:rPr>
                        <a:t>2) PE control &amp; monitoring PCR event</a:t>
                      </a:r>
                    </a:p>
                    <a:p>
                      <a:pPr algn="l" rtl="0" fontAlgn="ctr"/>
                      <a:r>
                        <a:rPr lang="fr-FR" sz="1400" b="1" i="1" u="none" strike="noStrike" dirty="0">
                          <a:solidFill>
                            <a:srgbClr val="0070C0"/>
                          </a:solidFill>
                          <a:effectLst/>
                        </a:rPr>
                        <a:t>3) QA Support </a:t>
                      </a:r>
                      <a:r>
                        <a:rPr lang="fr-FR" sz="1400" b="1" i="1" u="none" strike="noStrike" dirty="0" err="1">
                          <a:solidFill>
                            <a:srgbClr val="0070C0"/>
                          </a:solidFill>
                          <a:effectLst/>
                        </a:rPr>
                        <a:t>internal</a:t>
                      </a:r>
                      <a:r>
                        <a:rPr lang="fr-FR" sz="1400" b="1" i="1" u="none" strike="noStrike" dirty="0">
                          <a:solidFill>
                            <a:srgbClr val="0070C0"/>
                          </a:solidFill>
                          <a:effectLst/>
                        </a:rPr>
                        <a:t> documents update</a:t>
                      </a:r>
                    </a:p>
                    <a:p>
                      <a:pPr algn="l" fontAlgn="ctr"/>
                      <a:r>
                        <a:rPr lang="en-US" sz="1400" b="0" u="none" strike="noStrike" dirty="0">
                          <a:solidFill>
                            <a:schemeClr val="tx1"/>
                          </a:solidFill>
                          <a:effectLst/>
                        </a:rPr>
                        <a:t> </a:t>
                      </a:r>
                      <a:endParaRPr lang="en-US" sz="1400" b="0" i="0" u="none" strike="noStrike" dirty="0">
                        <a:solidFill>
                          <a:schemeClr val="tx1"/>
                        </a:solidFill>
                        <a:effectLst/>
                        <a:latin typeface="Tahoma" panose="020B0604030504040204" pitchFamily="34" charset="0"/>
                      </a:endParaRPr>
                    </a:p>
                  </a:txBody>
                  <a:tcPr marL="4144" marR="4144" marT="4144" marB="0" anchor="ctr">
                    <a:solidFill>
                      <a:schemeClr val="accent1">
                        <a:lumMod val="20000"/>
                        <a:lumOff val="80000"/>
                      </a:schemeClr>
                    </a:solidFill>
                  </a:tcPr>
                </a:tc>
                <a:tc rowSpan="2">
                  <a:txBody>
                    <a:bodyPr/>
                    <a:lstStyle/>
                    <a:p>
                      <a:pPr algn="l" rtl="0" fontAlgn="ctr"/>
                      <a:r>
                        <a:rPr lang="en-US" sz="1400" b="0" u="none" strike="noStrike" dirty="0">
                          <a:solidFill>
                            <a:schemeClr val="tx1"/>
                          </a:solidFill>
                          <a:effectLst/>
                        </a:rPr>
                        <a:t>Internal activity controlled by PE</a:t>
                      </a:r>
                      <a:endParaRPr lang="en-US" sz="1400" b="0" i="0" u="none" strike="noStrike" dirty="0">
                        <a:solidFill>
                          <a:schemeClr val="tx1"/>
                        </a:solidFill>
                        <a:effectLst/>
                        <a:latin typeface="Arial" panose="020B0604020202020204" pitchFamily="34" charset="0"/>
                      </a:endParaRPr>
                    </a:p>
                  </a:txBody>
                  <a:tcPr marL="4144" marR="4144" marT="4144" marB="0" anchor="ctr">
                    <a:solidFill>
                      <a:schemeClr val="accent1">
                        <a:lumMod val="20000"/>
                        <a:lumOff val="80000"/>
                      </a:schemeClr>
                    </a:solidFill>
                  </a:tcPr>
                </a:tc>
                <a:extLst>
                  <a:ext uri="{0D108BD9-81ED-4DB2-BD59-A6C34878D82A}">
                    <a16:rowId xmlns:a16="http://schemas.microsoft.com/office/drawing/2014/main" val="2964674518"/>
                  </a:ext>
                </a:extLst>
              </a:tr>
              <a:tr h="686144">
                <a:tc vMerge="1">
                  <a:txBody>
                    <a:bodyPr/>
                    <a:lstStyle/>
                    <a:p>
                      <a:endParaRPr lang="en-US"/>
                    </a:p>
                  </a:txBody>
                  <a:tcPr/>
                </a:tc>
                <a:tc>
                  <a:txBody>
                    <a:bodyPr/>
                    <a:lstStyle/>
                    <a:p>
                      <a:pPr algn="l" rtl="0" fontAlgn="ctr"/>
                      <a:r>
                        <a:rPr lang="en-US" sz="1400" b="0" u="none" strike="noStrike" dirty="0">
                          <a:solidFill>
                            <a:schemeClr val="tx1"/>
                          </a:solidFill>
                          <a:effectLst/>
                        </a:rPr>
                        <a:t>Change Point</a:t>
                      </a:r>
                      <a:endParaRPr lang="en-US" sz="1400" b="0" i="0" u="none" strike="noStrike" dirty="0">
                        <a:solidFill>
                          <a:schemeClr val="tx1"/>
                        </a:solidFill>
                        <a:effectLst/>
                        <a:latin typeface="Arial" panose="020B0604020202020204" pitchFamily="34" charset="0"/>
                      </a:endParaRPr>
                    </a:p>
                  </a:txBody>
                  <a:tcPr marL="4144" marR="4144" marT="4144" marB="0" anchor="ctr">
                    <a:solidFill>
                      <a:schemeClr val="accent1">
                        <a:lumMod val="20000"/>
                        <a:lumOff val="80000"/>
                      </a:schemeClr>
                    </a:solidFill>
                  </a:tcPr>
                </a:tc>
                <a:tc>
                  <a:txBody>
                    <a:bodyPr/>
                    <a:lstStyle/>
                    <a:p>
                      <a:pPr algn="l" rtl="0" fontAlgn="ctr"/>
                      <a:r>
                        <a:rPr lang="en-US" sz="1400" b="0" u="none" strike="noStrike" dirty="0">
                          <a:solidFill>
                            <a:schemeClr val="tx1"/>
                          </a:solidFill>
                          <a:effectLst/>
                        </a:rPr>
                        <a:t>Passthrough by Sales, Inhouse by PE</a:t>
                      </a:r>
                      <a:endParaRPr lang="en-US" sz="1400" b="0" i="0" u="none" strike="noStrike" dirty="0">
                        <a:solidFill>
                          <a:schemeClr val="tx1"/>
                        </a:solidFill>
                        <a:effectLst/>
                        <a:latin typeface="Arial" panose="020B0604020202020204" pitchFamily="34" charset="0"/>
                      </a:endParaRPr>
                    </a:p>
                  </a:txBody>
                  <a:tcPr marL="4144" marR="4144" marT="4144" marB="0" anchor="ctr">
                    <a:solidFill>
                      <a:schemeClr val="accent1">
                        <a:lumMod val="20000"/>
                        <a:lumOff val="80000"/>
                      </a:schemeClr>
                    </a:solidFill>
                  </a:tcPr>
                </a:tc>
                <a:tc>
                  <a:txBody>
                    <a:bodyPr/>
                    <a:lstStyle/>
                    <a:p>
                      <a:pPr algn="l" rtl="0" fontAlgn="ctr"/>
                      <a:r>
                        <a:rPr lang="en-US" sz="1400" b="1" i="1" u="none" strike="noStrike" dirty="0">
                          <a:solidFill>
                            <a:srgbClr val="0070C0"/>
                          </a:solidFill>
                          <a:effectLst/>
                        </a:rPr>
                        <a:t>PE as Dept window for Overseas communication &amp; PCR event (sales OE acknowledge)</a:t>
                      </a:r>
                      <a:endParaRPr lang="en-US" sz="1400" b="1" i="1" u="none" strike="noStrike" dirty="0">
                        <a:solidFill>
                          <a:srgbClr val="0070C0"/>
                        </a:solidFill>
                        <a:effectLst/>
                        <a:latin typeface="Arial" panose="020B0604020202020204" pitchFamily="34" charset="0"/>
                      </a:endParaRPr>
                    </a:p>
                  </a:txBody>
                  <a:tcPr marL="4144" marR="4144" marT="4144" marB="0" anchor="ctr">
                    <a:solidFill>
                      <a:schemeClr val="accent1">
                        <a:lumMod val="20000"/>
                        <a:lumOff val="80000"/>
                      </a:schemeClr>
                    </a:solidFill>
                  </a:tcPr>
                </a:tc>
                <a:tc vMerge="1">
                  <a:txBody>
                    <a:bodyPr/>
                    <a:lstStyle/>
                    <a:p>
                      <a:pPr algn="l" rtl="0" fontAlgn="ctr"/>
                      <a:endParaRPr lang="en-US" sz="1050" b="0" i="0" u="none" strike="noStrike" dirty="0">
                        <a:solidFill>
                          <a:srgbClr val="000000"/>
                        </a:solidFill>
                        <a:effectLst/>
                        <a:latin typeface="Arial" panose="020B0604020202020204" pitchFamily="34" charset="0"/>
                      </a:endParaRPr>
                    </a:p>
                  </a:txBody>
                  <a:tcPr marL="4144" marR="4144" marT="4144" marB="0" anchor="ctr">
                    <a:solidFill>
                      <a:schemeClr val="accent1">
                        <a:lumMod val="20000"/>
                        <a:lumOff val="80000"/>
                      </a:schemeClr>
                    </a:solidFill>
                  </a:tcPr>
                </a:tc>
                <a:extLst>
                  <a:ext uri="{0D108BD9-81ED-4DB2-BD59-A6C34878D82A}">
                    <a16:rowId xmlns:a16="http://schemas.microsoft.com/office/drawing/2014/main" val="2908196109"/>
                  </a:ext>
                </a:extLst>
              </a:tr>
              <a:tr h="1101989">
                <a:tc rowSpan="2">
                  <a:txBody>
                    <a:bodyPr/>
                    <a:lstStyle/>
                    <a:p>
                      <a:pPr algn="ctr" rtl="0" fontAlgn="ctr"/>
                      <a:r>
                        <a:rPr lang="en-US" sz="1400" b="1" u="none" strike="noStrike" dirty="0">
                          <a:solidFill>
                            <a:schemeClr val="bg1"/>
                          </a:solidFill>
                          <a:effectLst/>
                        </a:rPr>
                        <a:t>Output</a:t>
                      </a:r>
                      <a:endParaRPr lang="en-US" sz="1400" b="1" i="0" u="none" strike="noStrike" dirty="0">
                        <a:solidFill>
                          <a:schemeClr val="bg1"/>
                        </a:solidFill>
                        <a:effectLst/>
                        <a:latin typeface="Arial" panose="020B0604020202020204" pitchFamily="34" charset="0"/>
                      </a:endParaRPr>
                    </a:p>
                  </a:txBody>
                  <a:tcPr marL="4144" marR="4144" marT="4144" marB="0" vert="vert270" anchor="ctr">
                    <a:solidFill>
                      <a:schemeClr val="accent5">
                        <a:lumMod val="75000"/>
                      </a:schemeClr>
                    </a:solidFill>
                  </a:tcPr>
                </a:tc>
                <a:tc>
                  <a:txBody>
                    <a:bodyPr/>
                    <a:lstStyle/>
                    <a:p>
                      <a:pPr algn="l" rtl="0" fontAlgn="ctr"/>
                      <a:r>
                        <a:rPr lang="en-US" sz="1400" u="none" strike="noStrike" dirty="0">
                          <a:solidFill>
                            <a:schemeClr val="tx1"/>
                          </a:solidFill>
                          <a:effectLst/>
                        </a:rPr>
                        <a:t>Item</a:t>
                      </a:r>
                      <a:endParaRPr lang="en-US" sz="1400" b="0" i="0" u="none" strike="noStrike" dirty="0">
                        <a:solidFill>
                          <a:schemeClr val="tx1"/>
                        </a:solidFill>
                        <a:effectLst/>
                        <a:latin typeface="Arial" panose="020B0604020202020204" pitchFamily="34" charset="0"/>
                      </a:endParaRPr>
                    </a:p>
                  </a:txBody>
                  <a:tcPr marL="4144" marR="4144" marT="4144" marB="0" anchor="ctr"/>
                </a:tc>
                <a:tc>
                  <a:txBody>
                    <a:bodyPr/>
                    <a:lstStyle/>
                    <a:p>
                      <a:pPr algn="l" fontAlgn="ctr"/>
                      <a:r>
                        <a:rPr lang="en-US" sz="1400" i="0" u="none" strike="noStrike" dirty="0">
                          <a:solidFill>
                            <a:schemeClr val="tx1"/>
                          </a:solidFill>
                          <a:effectLst/>
                        </a:rPr>
                        <a:t>1) PCR Customer Submission, Feedback &amp; Judgement by Sales OE</a:t>
                      </a:r>
                      <a:br>
                        <a:rPr lang="en-US" sz="1400" i="0" u="none" strike="noStrike" dirty="0">
                          <a:solidFill>
                            <a:schemeClr val="tx1"/>
                          </a:solidFill>
                          <a:effectLst/>
                        </a:rPr>
                      </a:br>
                      <a:endParaRPr lang="en-US" sz="1400" b="0" i="0" u="none" strike="noStrike" dirty="0">
                        <a:solidFill>
                          <a:schemeClr val="tx1"/>
                        </a:solidFill>
                        <a:effectLst/>
                        <a:latin typeface="Tahoma" panose="020B0604030504040204" pitchFamily="34" charset="0"/>
                      </a:endParaRPr>
                    </a:p>
                  </a:txBody>
                  <a:tcPr marL="4144" marR="4144" marT="4144" marB="0" anchor="ctr"/>
                </a:tc>
                <a:tc>
                  <a:txBody>
                    <a:bodyPr/>
                    <a:lstStyle/>
                    <a:p>
                      <a:pPr algn="l" rtl="0" fontAlgn="ctr"/>
                      <a:r>
                        <a:rPr lang="en-US" sz="1400" b="1" i="1" u="none" strike="noStrike" dirty="0">
                          <a:solidFill>
                            <a:srgbClr val="0070C0"/>
                          </a:solidFill>
                          <a:effectLst/>
                        </a:rPr>
                        <a:t>1) PCR Customer Submission, Feedback &amp; Judgement by PE (sales OE acknowledge)</a:t>
                      </a:r>
                    </a:p>
                    <a:p>
                      <a:pPr algn="l" rtl="0" fontAlgn="ctr"/>
                      <a:r>
                        <a:rPr lang="en-US" sz="1400" b="1" i="1" u="none" strike="noStrike" dirty="0">
                          <a:solidFill>
                            <a:srgbClr val="0070C0"/>
                          </a:solidFill>
                          <a:effectLst/>
                        </a:rPr>
                        <a:t>2) PCR Internal Approval</a:t>
                      </a:r>
                      <a:endParaRPr lang="en-US" sz="1400" b="1" i="1" u="none" strike="noStrike" dirty="0">
                        <a:solidFill>
                          <a:srgbClr val="0070C0"/>
                        </a:solidFill>
                        <a:effectLst/>
                        <a:latin typeface="Arial" panose="020B0604020202020204" pitchFamily="34" charset="0"/>
                      </a:endParaRPr>
                    </a:p>
                  </a:txBody>
                  <a:tcPr marL="4144" marR="4144" marT="4144" marB="0" anchor="ctr">
                    <a:solidFill>
                      <a:schemeClr val="accent1">
                        <a:lumMod val="20000"/>
                        <a:lumOff val="80000"/>
                      </a:schemeClr>
                    </a:solidFill>
                  </a:tcPr>
                </a:tc>
                <a:tc rowSpan="2">
                  <a:txBody>
                    <a:bodyPr/>
                    <a:lstStyle/>
                    <a:p>
                      <a:pPr algn="l" rtl="0" fontAlgn="ctr"/>
                      <a:r>
                        <a:rPr lang="en-US" sz="1400" b="0" i="0" u="none" strike="noStrike" dirty="0">
                          <a:solidFill>
                            <a:schemeClr val="tx1"/>
                          </a:solidFill>
                          <a:effectLst/>
                          <a:latin typeface="Arial" panose="020B0604020202020204" pitchFamily="34" charset="0"/>
                        </a:rPr>
                        <a:t>Control &amp; Monitoring by PE </a:t>
                      </a:r>
                    </a:p>
                  </a:txBody>
                  <a:tcPr marL="4144" marR="4144" marT="4144" marB="0" anchor="ctr"/>
                </a:tc>
                <a:extLst>
                  <a:ext uri="{0D108BD9-81ED-4DB2-BD59-A6C34878D82A}">
                    <a16:rowId xmlns:a16="http://schemas.microsoft.com/office/drawing/2014/main" val="3139046853"/>
                  </a:ext>
                </a:extLst>
              </a:tr>
              <a:tr h="940851">
                <a:tc vMerge="1">
                  <a:txBody>
                    <a:bodyPr/>
                    <a:lstStyle/>
                    <a:p>
                      <a:endParaRPr lang="en-US"/>
                    </a:p>
                  </a:txBody>
                  <a:tcPr/>
                </a:tc>
                <a:tc>
                  <a:txBody>
                    <a:bodyPr/>
                    <a:lstStyle/>
                    <a:p>
                      <a:pPr algn="l" rtl="0" fontAlgn="ctr"/>
                      <a:r>
                        <a:rPr lang="en-US" sz="1400" u="none" strike="noStrike" dirty="0">
                          <a:solidFill>
                            <a:schemeClr val="tx1"/>
                          </a:solidFill>
                          <a:effectLst/>
                        </a:rPr>
                        <a:t>Change Point</a:t>
                      </a:r>
                      <a:endParaRPr lang="en-US" sz="1400" b="1" i="0" u="none" strike="noStrike" dirty="0">
                        <a:solidFill>
                          <a:schemeClr val="tx1"/>
                        </a:solidFill>
                        <a:effectLst/>
                        <a:latin typeface="Arial" panose="020B0604020202020204" pitchFamily="34" charset="0"/>
                      </a:endParaRPr>
                    </a:p>
                  </a:txBody>
                  <a:tcPr marL="4144" marR="4144" marT="4144" marB="0" anchor="ctr"/>
                </a:tc>
                <a:tc>
                  <a:txBody>
                    <a:bodyPr/>
                    <a:lstStyle/>
                    <a:p>
                      <a:pPr algn="l" rtl="0" fontAlgn="ctr"/>
                      <a:r>
                        <a:rPr lang="en-US" sz="1400" u="none" strike="noStrike" dirty="0">
                          <a:solidFill>
                            <a:schemeClr val="tx1"/>
                          </a:solidFill>
                          <a:effectLst/>
                        </a:rPr>
                        <a:t>Sales as Dept window for PCR Submission until PCR Judgement</a:t>
                      </a:r>
                      <a:endParaRPr lang="en-US" sz="1400" b="0" i="0" u="none" strike="noStrike" dirty="0">
                        <a:solidFill>
                          <a:schemeClr val="tx1"/>
                        </a:solidFill>
                        <a:effectLst/>
                        <a:latin typeface="Arial" panose="020B0604020202020204" pitchFamily="34" charset="0"/>
                      </a:endParaRPr>
                    </a:p>
                  </a:txBody>
                  <a:tcPr marL="4144" marR="4144" marT="4144" marB="0" anchor="ctr"/>
                </a:tc>
                <a:tc>
                  <a:txBody>
                    <a:bodyPr/>
                    <a:lstStyle/>
                    <a:p>
                      <a:pPr algn="l" rtl="0" fontAlgn="ctr"/>
                      <a:r>
                        <a:rPr lang="en-US" sz="1400" b="1" i="1" u="none" strike="noStrike" dirty="0">
                          <a:solidFill>
                            <a:srgbClr val="0070C0"/>
                          </a:solidFill>
                          <a:effectLst/>
                        </a:rPr>
                        <a:t>PE as Dept window for PCR Submission until PCR Judgement (sales OE acknowledge)</a:t>
                      </a:r>
                      <a:endParaRPr lang="en-US" sz="1400" b="1" i="1" u="none" strike="noStrike" dirty="0">
                        <a:solidFill>
                          <a:srgbClr val="0070C0"/>
                        </a:solidFill>
                        <a:effectLst/>
                        <a:latin typeface="Arial" panose="020B0604020202020204" pitchFamily="34" charset="0"/>
                      </a:endParaRPr>
                    </a:p>
                  </a:txBody>
                  <a:tcPr marL="4144" marR="4144" marT="4144" marB="0" anchor="ctr">
                    <a:solidFill>
                      <a:schemeClr val="accent1">
                        <a:lumMod val="20000"/>
                        <a:lumOff val="80000"/>
                      </a:schemeClr>
                    </a:solidFill>
                  </a:tcPr>
                </a:tc>
                <a:tc vMerge="1">
                  <a:txBody>
                    <a:bodyPr/>
                    <a:lstStyle/>
                    <a:p>
                      <a:pPr algn="l" rtl="0" fontAlgn="ctr"/>
                      <a:endParaRPr lang="en-US" sz="1050" b="0" i="0" u="none" strike="noStrike" dirty="0">
                        <a:solidFill>
                          <a:srgbClr val="FF0000"/>
                        </a:solidFill>
                        <a:effectLst/>
                        <a:latin typeface="Arial" panose="020B0604020202020204" pitchFamily="34" charset="0"/>
                      </a:endParaRPr>
                    </a:p>
                  </a:txBody>
                  <a:tcPr marL="4144" marR="4144" marT="4144" marB="0" anchor="ctr"/>
                </a:tc>
                <a:extLst>
                  <a:ext uri="{0D108BD9-81ED-4DB2-BD59-A6C34878D82A}">
                    <a16:rowId xmlns:a16="http://schemas.microsoft.com/office/drawing/2014/main" val="641663561"/>
                  </a:ext>
                </a:extLst>
              </a:tr>
            </a:tbl>
          </a:graphicData>
        </a:graphic>
      </p:graphicFrame>
      <p:sp>
        <p:nvSpPr>
          <p:cNvPr id="5" name="TextBox 4">
            <a:extLst>
              <a:ext uri="{FF2B5EF4-FFF2-40B4-BE49-F238E27FC236}">
                <a16:creationId xmlns:a16="http://schemas.microsoft.com/office/drawing/2014/main" id="{02090117-A16F-10B5-333C-7A10D4BFB886}"/>
              </a:ext>
            </a:extLst>
          </p:cNvPr>
          <p:cNvSpPr txBox="1"/>
          <p:nvPr/>
        </p:nvSpPr>
        <p:spPr>
          <a:xfrm>
            <a:off x="121920" y="101600"/>
            <a:ext cx="7340764" cy="523220"/>
          </a:xfrm>
          <a:prstGeom prst="rect">
            <a:avLst/>
          </a:prstGeom>
          <a:noFill/>
        </p:spPr>
        <p:txBody>
          <a:bodyPr wrap="square" rtlCol="0">
            <a:spAutoFit/>
          </a:bodyPr>
          <a:lstStyle/>
          <a:p>
            <a:r>
              <a:rPr lang="en-US" sz="2800" b="1" dirty="0">
                <a:solidFill>
                  <a:srgbClr val="0070C0"/>
                </a:solidFill>
              </a:rPr>
              <a:t>2. PCR Before After Summary</a:t>
            </a:r>
          </a:p>
        </p:txBody>
      </p:sp>
    </p:spTree>
    <p:extLst>
      <p:ext uri="{BB962C8B-B14F-4D97-AF65-F5344CB8AC3E}">
        <p14:creationId xmlns:p14="http://schemas.microsoft.com/office/powerpoint/2010/main" val="2746637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D5E5D2-E9A5-5723-C343-ED67360DBC62}"/>
              </a:ext>
            </a:extLst>
          </p:cNvPr>
          <p:cNvSpPr/>
          <p:nvPr/>
        </p:nvSpPr>
        <p:spPr>
          <a:xfrm>
            <a:off x="289637" y="1834492"/>
            <a:ext cx="1397164" cy="1031969"/>
          </a:xfrm>
          <a:prstGeom prst="rect">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Overseas PCR Proposed</a:t>
            </a:r>
          </a:p>
          <a:p>
            <a:pPr marL="342900" indent="-342900">
              <a:buAutoNum type="arabicParenR"/>
            </a:pPr>
            <a:r>
              <a:rPr lang="en-US" sz="1100" dirty="0">
                <a:solidFill>
                  <a:schemeClr val="bg1"/>
                </a:solidFill>
              </a:rPr>
              <a:t>KD Parts</a:t>
            </a:r>
          </a:p>
          <a:p>
            <a:pPr marL="342900" indent="-342900">
              <a:buAutoNum type="arabicParenR"/>
            </a:pPr>
            <a:r>
              <a:rPr lang="en-US" sz="1100" dirty="0">
                <a:solidFill>
                  <a:schemeClr val="bg1"/>
                </a:solidFill>
              </a:rPr>
              <a:t>Passthrough Parts</a:t>
            </a:r>
          </a:p>
        </p:txBody>
      </p:sp>
      <p:sp>
        <p:nvSpPr>
          <p:cNvPr id="4" name="Rectangle 3">
            <a:extLst>
              <a:ext uri="{FF2B5EF4-FFF2-40B4-BE49-F238E27FC236}">
                <a16:creationId xmlns:a16="http://schemas.microsoft.com/office/drawing/2014/main" id="{E6FFFE9D-AAFF-5A50-286D-51A07149B959}"/>
              </a:ext>
            </a:extLst>
          </p:cNvPr>
          <p:cNvSpPr/>
          <p:nvPr/>
        </p:nvSpPr>
        <p:spPr>
          <a:xfrm>
            <a:off x="1538767" y="3338118"/>
            <a:ext cx="1544648" cy="501443"/>
          </a:xfrm>
          <a:prstGeom prst="rect">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Received by PM or GM MKT</a:t>
            </a:r>
          </a:p>
        </p:txBody>
      </p:sp>
      <p:sp>
        <p:nvSpPr>
          <p:cNvPr id="5" name="Rectangle 4">
            <a:extLst>
              <a:ext uri="{FF2B5EF4-FFF2-40B4-BE49-F238E27FC236}">
                <a16:creationId xmlns:a16="http://schemas.microsoft.com/office/drawing/2014/main" id="{838CB8ED-2C0A-ABE6-1C7D-A486F9143CC2}"/>
              </a:ext>
            </a:extLst>
          </p:cNvPr>
          <p:cNvSpPr/>
          <p:nvPr/>
        </p:nvSpPr>
        <p:spPr>
          <a:xfrm>
            <a:off x="2071330" y="2087752"/>
            <a:ext cx="1397164" cy="523220"/>
          </a:xfrm>
          <a:prstGeom prst="rect">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Received by </a:t>
            </a:r>
            <a:r>
              <a:rPr lang="en-US" dirty="0" err="1">
                <a:solidFill>
                  <a:schemeClr val="bg1"/>
                </a:solidFill>
              </a:rPr>
              <a:t>Niterra</a:t>
            </a:r>
            <a:r>
              <a:rPr lang="en-US" dirty="0">
                <a:solidFill>
                  <a:schemeClr val="bg1"/>
                </a:solidFill>
              </a:rPr>
              <a:t> Dept</a:t>
            </a:r>
          </a:p>
        </p:txBody>
      </p:sp>
      <p:cxnSp>
        <p:nvCxnSpPr>
          <p:cNvPr id="6" name="Straight Arrow Connector 5">
            <a:extLst>
              <a:ext uri="{FF2B5EF4-FFF2-40B4-BE49-F238E27FC236}">
                <a16:creationId xmlns:a16="http://schemas.microsoft.com/office/drawing/2014/main" id="{ED07D25F-4F89-F965-BE3D-2BAD27199183}"/>
              </a:ext>
            </a:extLst>
          </p:cNvPr>
          <p:cNvCxnSpPr>
            <a:cxnSpLocks/>
            <a:stCxn id="3" idx="3"/>
            <a:endCxn id="5" idx="1"/>
          </p:cNvCxnSpPr>
          <p:nvPr/>
        </p:nvCxnSpPr>
        <p:spPr>
          <a:xfrm flipV="1">
            <a:off x="1686801" y="2349362"/>
            <a:ext cx="384529" cy="11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4CBA69B4-202A-ACA4-7182-E6DE20D96269}"/>
              </a:ext>
            </a:extLst>
          </p:cNvPr>
          <p:cNvCxnSpPr>
            <a:cxnSpLocks/>
            <a:stCxn id="3" idx="2"/>
            <a:endCxn id="4" idx="1"/>
          </p:cNvCxnSpPr>
          <p:nvPr/>
        </p:nvCxnSpPr>
        <p:spPr>
          <a:xfrm rot="16200000" flipH="1">
            <a:off x="902304" y="2952376"/>
            <a:ext cx="722379" cy="550548"/>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F821719-1E17-47CB-E274-8C97CE33664D}"/>
              </a:ext>
            </a:extLst>
          </p:cNvPr>
          <p:cNvSpPr/>
          <p:nvPr/>
        </p:nvSpPr>
        <p:spPr>
          <a:xfrm>
            <a:off x="545690" y="695648"/>
            <a:ext cx="2386121" cy="686915"/>
          </a:xfrm>
          <a:prstGeom prst="rect">
            <a:avLst/>
          </a:prstGeom>
          <a:solidFill>
            <a:schemeClr val="accent5">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Internal Proposed :</a:t>
            </a:r>
            <a:endParaRPr lang="en-US" sz="1200" dirty="0">
              <a:solidFill>
                <a:schemeClr val="bg1"/>
              </a:solidFill>
            </a:endParaRPr>
          </a:p>
          <a:p>
            <a:pPr marL="342900" indent="-342900">
              <a:buAutoNum type="arabicParenR"/>
            </a:pPr>
            <a:r>
              <a:rPr lang="en-US" sz="1100" dirty="0">
                <a:solidFill>
                  <a:schemeClr val="bg1"/>
                </a:solidFill>
              </a:rPr>
              <a:t>From </a:t>
            </a:r>
            <a:r>
              <a:rPr lang="en-US" sz="1100" dirty="0" err="1">
                <a:solidFill>
                  <a:schemeClr val="bg1"/>
                </a:solidFill>
              </a:rPr>
              <a:t>Niterra</a:t>
            </a:r>
            <a:r>
              <a:rPr lang="en-US" sz="1100" dirty="0">
                <a:solidFill>
                  <a:schemeClr val="bg1"/>
                </a:solidFill>
              </a:rPr>
              <a:t> Indonesia</a:t>
            </a:r>
          </a:p>
          <a:p>
            <a:pPr marL="342900" indent="-342900">
              <a:buAutoNum type="arabicParenR"/>
            </a:pPr>
            <a:r>
              <a:rPr lang="en-US" sz="1100" dirty="0">
                <a:solidFill>
                  <a:schemeClr val="bg1"/>
                </a:solidFill>
              </a:rPr>
              <a:t>Supplier </a:t>
            </a:r>
          </a:p>
        </p:txBody>
      </p:sp>
      <p:sp>
        <p:nvSpPr>
          <p:cNvPr id="46" name="TextBox 45">
            <a:extLst>
              <a:ext uri="{FF2B5EF4-FFF2-40B4-BE49-F238E27FC236}">
                <a16:creationId xmlns:a16="http://schemas.microsoft.com/office/drawing/2014/main" id="{9CE899F5-523A-5CA4-4FE7-B437D95CCDB1}"/>
              </a:ext>
            </a:extLst>
          </p:cNvPr>
          <p:cNvSpPr txBox="1"/>
          <p:nvPr/>
        </p:nvSpPr>
        <p:spPr>
          <a:xfrm>
            <a:off x="52631" y="6433285"/>
            <a:ext cx="3660153" cy="400110"/>
          </a:xfrm>
          <a:prstGeom prst="rect">
            <a:avLst/>
          </a:prstGeom>
          <a:solidFill>
            <a:schemeClr val="bg1"/>
          </a:solidFill>
        </p:spPr>
        <p:txBody>
          <a:bodyPr wrap="square" rtlCol="0">
            <a:spAutoFit/>
          </a:bodyPr>
          <a:lstStyle/>
          <a:p>
            <a:r>
              <a:rPr lang="en-US" sz="1000" dirty="0"/>
              <a:t>PIC Localization Sheet : Related Manufacturing : PE</a:t>
            </a:r>
          </a:p>
          <a:p>
            <a:r>
              <a:rPr lang="en-US" sz="1000" dirty="0"/>
              <a:t>Related to Business Administration : Sales Marketing</a:t>
            </a:r>
          </a:p>
        </p:txBody>
      </p:sp>
      <p:sp>
        <p:nvSpPr>
          <p:cNvPr id="48" name="Rectangle 47">
            <a:extLst>
              <a:ext uri="{FF2B5EF4-FFF2-40B4-BE49-F238E27FC236}">
                <a16:creationId xmlns:a16="http://schemas.microsoft.com/office/drawing/2014/main" id="{9FF83FDF-8FF1-037C-C0C3-4A0670549E01}"/>
              </a:ext>
            </a:extLst>
          </p:cNvPr>
          <p:cNvSpPr/>
          <p:nvPr/>
        </p:nvSpPr>
        <p:spPr>
          <a:xfrm>
            <a:off x="5262882" y="823258"/>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Localization Panel </a:t>
            </a:r>
          </a:p>
        </p:txBody>
      </p:sp>
      <p:grpSp>
        <p:nvGrpSpPr>
          <p:cNvPr id="59" name="Group 58">
            <a:extLst>
              <a:ext uri="{FF2B5EF4-FFF2-40B4-BE49-F238E27FC236}">
                <a16:creationId xmlns:a16="http://schemas.microsoft.com/office/drawing/2014/main" id="{A72B4D0E-E7D5-0EE2-D460-0FA944798ED3}"/>
              </a:ext>
            </a:extLst>
          </p:cNvPr>
          <p:cNvGrpSpPr/>
          <p:nvPr/>
        </p:nvGrpSpPr>
        <p:grpSpPr>
          <a:xfrm>
            <a:off x="5538875" y="1431365"/>
            <a:ext cx="1114250" cy="1085475"/>
            <a:chOff x="9039384" y="1256859"/>
            <a:chExt cx="1114250" cy="975498"/>
          </a:xfrm>
        </p:grpSpPr>
        <p:sp>
          <p:nvSpPr>
            <p:cNvPr id="60" name="Diamond 59">
              <a:extLst>
                <a:ext uri="{FF2B5EF4-FFF2-40B4-BE49-F238E27FC236}">
                  <a16:creationId xmlns:a16="http://schemas.microsoft.com/office/drawing/2014/main" id="{CF657BDE-1C00-5669-C274-442D0C8FE581}"/>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1" name="TextBox 60">
              <a:extLst>
                <a:ext uri="{FF2B5EF4-FFF2-40B4-BE49-F238E27FC236}">
                  <a16:creationId xmlns:a16="http://schemas.microsoft.com/office/drawing/2014/main" id="{026995FA-4C16-225D-C8EC-1F512C22B4AC}"/>
                </a:ext>
              </a:extLst>
            </p:cNvPr>
            <p:cNvSpPr txBox="1"/>
            <p:nvPr/>
          </p:nvSpPr>
          <p:spPr>
            <a:xfrm>
              <a:off x="9083537" y="1551151"/>
              <a:ext cx="1025944" cy="430887"/>
            </a:xfrm>
            <a:prstGeom prst="rect">
              <a:avLst/>
            </a:prstGeom>
            <a:noFill/>
          </p:spPr>
          <p:txBody>
            <a:bodyPr wrap="square" rtlCol="0">
              <a:spAutoFit/>
            </a:bodyPr>
            <a:lstStyle/>
            <a:p>
              <a:pPr algn="ctr"/>
              <a:r>
                <a:rPr lang="en-US" sz="1100" b="1" dirty="0">
                  <a:solidFill>
                    <a:schemeClr val="bg1"/>
                  </a:solidFill>
                </a:rPr>
                <a:t>Localization Sheet</a:t>
              </a:r>
            </a:p>
          </p:txBody>
        </p:sp>
      </p:grpSp>
      <p:grpSp>
        <p:nvGrpSpPr>
          <p:cNvPr id="63" name="Group 62">
            <a:extLst>
              <a:ext uri="{FF2B5EF4-FFF2-40B4-BE49-F238E27FC236}">
                <a16:creationId xmlns:a16="http://schemas.microsoft.com/office/drawing/2014/main" id="{79E3CFE7-C32E-1CAD-621F-CAFA0CA4895E}"/>
              </a:ext>
            </a:extLst>
          </p:cNvPr>
          <p:cNvGrpSpPr/>
          <p:nvPr/>
        </p:nvGrpSpPr>
        <p:grpSpPr>
          <a:xfrm>
            <a:off x="5538875" y="2854891"/>
            <a:ext cx="1114250" cy="1085475"/>
            <a:chOff x="9039384" y="1256859"/>
            <a:chExt cx="1114250" cy="975498"/>
          </a:xfrm>
        </p:grpSpPr>
        <p:sp>
          <p:nvSpPr>
            <p:cNvPr id="64" name="Diamond 63">
              <a:extLst>
                <a:ext uri="{FF2B5EF4-FFF2-40B4-BE49-F238E27FC236}">
                  <a16:creationId xmlns:a16="http://schemas.microsoft.com/office/drawing/2014/main" id="{E7C7BFB2-D95D-59B8-CE56-24847939E9DA}"/>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 name="TextBox 64">
              <a:extLst>
                <a:ext uri="{FF2B5EF4-FFF2-40B4-BE49-F238E27FC236}">
                  <a16:creationId xmlns:a16="http://schemas.microsoft.com/office/drawing/2014/main" id="{F0B44794-31A3-34C0-F5EA-8944278CE48D}"/>
                </a:ext>
              </a:extLst>
            </p:cNvPr>
            <p:cNvSpPr txBox="1"/>
            <p:nvPr/>
          </p:nvSpPr>
          <p:spPr>
            <a:xfrm>
              <a:off x="9062960" y="1539592"/>
              <a:ext cx="1025944" cy="387231"/>
            </a:xfrm>
            <a:prstGeom prst="rect">
              <a:avLst/>
            </a:prstGeom>
            <a:noFill/>
          </p:spPr>
          <p:txBody>
            <a:bodyPr wrap="square" rtlCol="0">
              <a:spAutoFit/>
            </a:bodyPr>
            <a:lstStyle/>
            <a:p>
              <a:pPr algn="ctr"/>
              <a:r>
                <a:rPr lang="en-US" sz="1100" b="1" dirty="0">
                  <a:solidFill>
                    <a:schemeClr val="bg1"/>
                  </a:solidFill>
                </a:rPr>
                <a:t>Customer Submit</a:t>
              </a:r>
            </a:p>
          </p:txBody>
        </p:sp>
      </p:grpSp>
      <p:sp>
        <p:nvSpPr>
          <p:cNvPr id="66" name="Rectangle 65">
            <a:extLst>
              <a:ext uri="{FF2B5EF4-FFF2-40B4-BE49-F238E27FC236}">
                <a16:creationId xmlns:a16="http://schemas.microsoft.com/office/drawing/2014/main" id="{95EA4B46-8041-BF62-A3E0-7509A688EA60}"/>
              </a:ext>
            </a:extLst>
          </p:cNvPr>
          <p:cNvSpPr/>
          <p:nvPr/>
        </p:nvSpPr>
        <p:spPr>
          <a:xfrm>
            <a:off x="7153708" y="1748988"/>
            <a:ext cx="1656945" cy="451791"/>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Proposed Localization</a:t>
            </a:r>
          </a:p>
        </p:txBody>
      </p:sp>
      <p:grpSp>
        <p:nvGrpSpPr>
          <p:cNvPr id="67" name="Group 66">
            <a:extLst>
              <a:ext uri="{FF2B5EF4-FFF2-40B4-BE49-F238E27FC236}">
                <a16:creationId xmlns:a16="http://schemas.microsoft.com/office/drawing/2014/main" id="{B02938E7-7625-4866-BCB4-67A1E62DC40F}"/>
              </a:ext>
            </a:extLst>
          </p:cNvPr>
          <p:cNvGrpSpPr/>
          <p:nvPr/>
        </p:nvGrpSpPr>
        <p:grpSpPr>
          <a:xfrm>
            <a:off x="9367704" y="1396976"/>
            <a:ext cx="1114250" cy="1085475"/>
            <a:chOff x="9039384" y="1256859"/>
            <a:chExt cx="1114250" cy="975498"/>
          </a:xfrm>
        </p:grpSpPr>
        <p:sp>
          <p:nvSpPr>
            <p:cNvPr id="68" name="Diamond 67">
              <a:extLst>
                <a:ext uri="{FF2B5EF4-FFF2-40B4-BE49-F238E27FC236}">
                  <a16:creationId xmlns:a16="http://schemas.microsoft.com/office/drawing/2014/main" id="{FD7494A9-7935-0227-9AFA-682BDA5132C7}"/>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9" name="TextBox 68">
              <a:extLst>
                <a:ext uri="{FF2B5EF4-FFF2-40B4-BE49-F238E27FC236}">
                  <a16:creationId xmlns:a16="http://schemas.microsoft.com/office/drawing/2014/main" id="{3787EF4B-161D-4757-53C7-1B8B7AFA38EA}"/>
                </a:ext>
              </a:extLst>
            </p:cNvPr>
            <p:cNvSpPr txBox="1"/>
            <p:nvPr/>
          </p:nvSpPr>
          <p:spPr>
            <a:xfrm>
              <a:off x="9093382" y="1550992"/>
              <a:ext cx="1025944" cy="387231"/>
            </a:xfrm>
            <a:prstGeom prst="rect">
              <a:avLst/>
            </a:prstGeom>
            <a:noFill/>
          </p:spPr>
          <p:txBody>
            <a:bodyPr wrap="square" rtlCol="0">
              <a:spAutoFit/>
            </a:bodyPr>
            <a:lstStyle/>
            <a:p>
              <a:pPr algn="ctr"/>
              <a:r>
                <a:rPr lang="en-US" sz="1100" b="1" dirty="0">
                  <a:solidFill>
                    <a:schemeClr val="bg1"/>
                  </a:solidFill>
                </a:rPr>
                <a:t>Localization Judgement</a:t>
              </a:r>
            </a:p>
          </p:txBody>
        </p:sp>
      </p:grpSp>
      <p:sp>
        <p:nvSpPr>
          <p:cNvPr id="70" name="Rectangle 69">
            <a:extLst>
              <a:ext uri="{FF2B5EF4-FFF2-40B4-BE49-F238E27FC236}">
                <a16:creationId xmlns:a16="http://schemas.microsoft.com/office/drawing/2014/main" id="{92A65B51-9EA8-7695-0DC2-13F61BB99AC9}"/>
              </a:ext>
            </a:extLst>
          </p:cNvPr>
          <p:cNvSpPr/>
          <p:nvPr/>
        </p:nvSpPr>
        <p:spPr>
          <a:xfrm>
            <a:off x="11059145" y="1712723"/>
            <a:ext cx="828473" cy="451791"/>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STOP</a:t>
            </a:r>
          </a:p>
        </p:txBody>
      </p:sp>
      <p:cxnSp>
        <p:nvCxnSpPr>
          <p:cNvPr id="71" name="Connector: Elbow 70">
            <a:extLst>
              <a:ext uri="{FF2B5EF4-FFF2-40B4-BE49-F238E27FC236}">
                <a16:creationId xmlns:a16="http://schemas.microsoft.com/office/drawing/2014/main" id="{21E96693-1C8C-2E59-72DF-73E4EF30E0B4}"/>
              </a:ext>
            </a:extLst>
          </p:cNvPr>
          <p:cNvCxnSpPr>
            <a:cxnSpLocks/>
            <a:stCxn id="68" idx="2"/>
          </p:cNvCxnSpPr>
          <p:nvPr/>
        </p:nvCxnSpPr>
        <p:spPr>
          <a:xfrm rot="5400000">
            <a:off x="7895575" y="682877"/>
            <a:ext cx="229680" cy="3828829"/>
          </a:xfrm>
          <a:prstGeom prst="bentConnector2">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D794EE6-D5CE-9523-6BA6-8A528C977261}"/>
              </a:ext>
            </a:extLst>
          </p:cNvPr>
          <p:cNvCxnSpPr>
            <a:cxnSpLocks/>
            <a:stCxn id="60" idx="3"/>
            <a:endCxn id="66" idx="1"/>
          </p:cNvCxnSpPr>
          <p:nvPr/>
        </p:nvCxnSpPr>
        <p:spPr>
          <a:xfrm>
            <a:off x="6653125" y="1974103"/>
            <a:ext cx="500583" cy="7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128600A-6DBF-091F-C7A2-74E18EE2FF47}"/>
              </a:ext>
            </a:extLst>
          </p:cNvPr>
          <p:cNvCxnSpPr>
            <a:cxnSpLocks/>
            <a:stCxn id="66" idx="3"/>
          </p:cNvCxnSpPr>
          <p:nvPr/>
        </p:nvCxnSpPr>
        <p:spPr>
          <a:xfrm flipV="1">
            <a:off x="8810653" y="1974103"/>
            <a:ext cx="557051" cy="7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7862005-8F67-1491-9907-3C09103F622E}"/>
              </a:ext>
            </a:extLst>
          </p:cNvPr>
          <p:cNvCxnSpPr>
            <a:cxnSpLocks/>
            <a:stCxn id="60" idx="2"/>
            <a:endCxn id="64" idx="0"/>
          </p:cNvCxnSpPr>
          <p:nvPr/>
        </p:nvCxnSpPr>
        <p:spPr>
          <a:xfrm>
            <a:off x="6096000" y="2516840"/>
            <a:ext cx="0" cy="3380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BE53ACC8-D2FF-8AF2-5232-60A3D9157A17}"/>
              </a:ext>
            </a:extLst>
          </p:cNvPr>
          <p:cNvSpPr/>
          <p:nvPr/>
        </p:nvSpPr>
        <p:spPr>
          <a:xfrm>
            <a:off x="5267527" y="4082991"/>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Internal Requirement List</a:t>
            </a:r>
          </a:p>
        </p:txBody>
      </p:sp>
      <p:grpSp>
        <p:nvGrpSpPr>
          <p:cNvPr id="89" name="Group 88">
            <a:extLst>
              <a:ext uri="{FF2B5EF4-FFF2-40B4-BE49-F238E27FC236}">
                <a16:creationId xmlns:a16="http://schemas.microsoft.com/office/drawing/2014/main" id="{B5CB004F-971E-B3C6-5A85-40EBDA161797}"/>
              </a:ext>
            </a:extLst>
          </p:cNvPr>
          <p:cNvGrpSpPr/>
          <p:nvPr/>
        </p:nvGrpSpPr>
        <p:grpSpPr>
          <a:xfrm>
            <a:off x="5544199" y="5310197"/>
            <a:ext cx="1114250" cy="1085475"/>
            <a:chOff x="9039384" y="1256859"/>
            <a:chExt cx="1114250" cy="975498"/>
          </a:xfrm>
        </p:grpSpPr>
        <p:sp>
          <p:nvSpPr>
            <p:cNvPr id="90" name="Diamond 89">
              <a:extLst>
                <a:ext uri="{FF2B5EF4-FFF2-40B4-BE49-F238E27FC236}">
                  <a16:creationId xmlns:a16="http://schemas.microsoft.com/office/drawing/2014/main" id="{911C8F78-AC6D-70AB-5AF3-B3ADC568C3A0}"/>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1" name="TextBox 90">
              <a:extLst>
                <a:ext uri="{FF2B5EF4-FFF2-40B4-BE49-F238E27FC236}">
                  <a16:creationId xmlns:a16="http://schemas.microsoft.com/office/drawing/2014/main" id="{CC3245A9-6D7E-BE1C-0579-3ABF674CDCA2}"/>
                </a:ext>
              </a:extLst>
            </p:cNvPr>
            <p:cNvSpPr txBox="1"/>
            <p:nvPr/>
          </p:nvSpPr>
          <p:spPr>
            <a:xfrm>
              <a:off x="9068347" y="1551935"/>
              <a:ext cx="1025944" cy="387231"/>
            </a:xfrm>
            <a:prstGeom prst="rect">
              <a:avLst/>
            </a:prstGeom>
            <a:noFill/>
          </p:spPr>
          <p:txBody>
            <a:bodyPr wrap="square" rtlCol="0">
              <a:spAutoFit/>
            </a:bodyPr>
            <a:lstStyle/>
            <a:p>
              <a:pPr algn="ctr"/>
              <a:r>
                <a:rPr lang="en-US" sz="1100" b="1" dirty="0">
                  <a:solidFill>
                    <a:schemeClr val="bg1"/>
                  </a:solidFill>
                </a:rPr>
                <a:t>Internal QM Verification</a:t>
              </a:r>
            </a:p>
          </p:txBody>
        </p:sp>
      </p:grpSp>
      <p:sp>
        <p:nvSpPr>
          <p:cNvPr id="92" name="Rectangle 91">
            <a:extLst>
              <a:ext uri="{FF2B5EF4-FFF2-40B4-BE49-F238E27FC236}">
                <a16:creationId xmlns:a16="http://schemas.microsoft.com/office/drawing/2014/main" id="{3EB87F00-1E0A-2258-5562-90A72560C8AF}"/>
              </a:ext>
            </a:extLst>
          </p:cNvPr>
          <p:cNvSpPr/>
          <p:nvPr/>
        </p:nvSpPr>
        <p:spPr>
          <a:xfrm>
            <a:off x="7763303" y="5631683"/>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Mass Production</a:t>
            </a:r>
          </a:p>
        </p:txBody>
      </p:sp>
      <p:sp>
        <p:nvSpPr>
          <p:cNvPr id="93" name="Rectangle 92">
            <a:extLst>
              <a:ext uri="{FF2B5EF4-FFF2-40B4-BE49-F238E27FC236}">
                <a16:creationId xmlns:a16="http://schemas.microsoft.com/office/drawing/2014/main" id="{590D70B3-03D9-390C-C783-D1A62438AE6B}"/>
              </a:ext>
            </a:extLst>
          </p:cNvPr>
          <p:cNvSpPr/>
          <p:nvPr/>
        </p:nvSpPr>
        <p:spPr>
          <a:xfrm>
            <a:off x="7768092" y="6265934"/>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r>
              <a:rPr lang="en-US" baseline="30000" dirty="0">
                <a:solidFill>
                  <a:schemeClr val="bg1"/>
                </a:solidFill>
              </a:rPr>
              <a:t>st</a:t>
            </a:r>
            <a:r>
              <a:rPr lang="en-US" dirty="0">
                <a:solidFill>
                  <a:schemeClr val="bg1"/>
                </a:solidFill>
              </a:rPr>
              <a:t> Delivery</a:t>
            </a:r>
          </a:p>
        </p:txBody>
      </p:sp>
      <p:cxnSp>
        <p:nvCxnSpPr>
          <p:cNvPr id="94" name="Connector: Elbow 93">
            <a:extLst>
              <a:ext uri="{FF2B5EF4-FFF2-40B4-BE49-F238E27FC236}">
                <a16:creationId xmlns:a16="http://schemas.microsoft.com/office/drawing/2014/main" id="{A29174AD-6200-C909-0C70-CB8C243CB8AD}"/>
              </a:ext>
            </a:extLst>
          </p:cNvPr>
          <p:cNvCxnSpPr>
            <a:cxnSpLocks/>
            <a:stCxn id="90" idx="1"/>
            <a:endCxn id="147" idx="1"/>
          </p:cNvCxnSpPr>
          <p:nvPr/>
        </p:nvCxnSpPr>
        <p:spPr>
          <a:xfrm rot="10800000">
            <a:off x="5267533" y="4912497"/>
            <a:ext cx="276667" cy="940439"/>
          </a:xfrm>
          <a:prstGeom prst="bentConnector3">
            <a:avLst>
              <a:gd name="adj1" fmla="val 182626"/>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8EAAB03E-F95E-A344-DEC1-4FF0B0ADEBCA}"/>
              </a:ext>
            </a:extLst>
          </p:cNvPr>
          <p:cNvSpPr/>
          <p:nvPr/>
        </p:nvSpPr>
        <p:spPr>
          <a:xfrm>
            <a:off x="6903416" y="3178462"/>
            <a:ext cx="1205502" cy="451791"/>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Submit PCR to Customer</a:t>
            </a:r>
          </a:p>
        </p:txBody>
      </p:sp>
      <p:sp>
        <p:nvSpPr>
          <p:cNvPr id="96" name="Rectangle 95">
            <a:extLst>
              <a:ext uri="{FF2B5EF4-FFF2-40B4-BE49-F238E27FC236}">
                <a16:creationId xmlns:a16="http://schemas.microsoft.com/office/drawing/2014/main" id="{6079BF1A-009F-F783-146F-755077150B11}"/>
              </a:ext>
            </a:extLst>
          </p:cNvPr>
          <p:cNvSpPr/>
          <p:nvPr/>
        </p:nvSpPr>
        <p:spPr>
          <a:xfrm>
            <a:off x="8423939" y="3178462"/>
            <a:ext cx="1833754" cy="451791"/>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Customer Feedback &amp; Requirement</a:t>
            </a:r>
          </a:p>
        </p:txBody>
      </p:sp>
      <p:sp>
        <p:nvSpPr>
          <p:cNvPr id="97" name="Rectangle 96">
            <a:extLst>
              <a:ext uri="{FF2B5EF4-FFF2-40B4-BE49-F238E27FC236}">
                <a16:creationId xmlns:a16="http://schemas.microsoft.com/office/drawing/2014/main" id="{96847BDB-A871-D5D4-9184-50FED315E215}"/>
              </a:ext>
            </a:extLst>
          </p:cNvPr>
          <p:cNvSpPr/>
          <p:nvPr/>
        </p:nvSpPr>
        <p:spPr>
          <a:xfrm>
            <a:off x="10564876" y="3178462"/>
            <a:ext cx="1114250" cy="451791"/>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Trial &amp; Evaluation</a:t>
            </a:r>
          </a:p>
        </p:txBody>
      </p:sp>
      <p:grpSp>
        <p:nvGrpSpPr>
          <p:cNvPr id="98" name="Group 97">
            <a:extLst>
              <a:ext uri="{FF2B5EF4-FFF2-40B4-BE49-F238E27FC236}">
                <a16:creationId xmlns:a16="http://schemas.microsoft.com/office/drawing/2014/main" id="{EAEACAF7-99E4-A04C-6AA8-9AA2ABF1B041}"/>
              </a:ext>
            </a:extLst>
          </p:cNvPr>
          <p:cNvGrpSpPr/>
          <p:nvPr/>
        </p:nvGrpSpPr>
        <p:grpSpPr>
          <a:xfrm>
            <a:off x="10564876" y="3792443"/>
            <a:ext cx="1114250" cy="1085475"/>
            <a:chOff x="9039384" y="1256859"/>
            <a:chExt cx="1114250" cy="975498"/>
          </a:xfrm>
        </p:grpSpPr>
        <p:sp>
          <p:nvSpPr>
            <p:cNvPr id="99" name="Diamond 98">
              <a:extLst>
                <a:ext uri="{FF2B5EF4-FFF2-40B4-BE49-F238E27FC236}">
                  <a16:creationId xmlns:a16="http://schemas.microsoft.com/office/drawing/2014/main" id="{AE7F662F-9C62-2468-1F70-EF74E1A4D915}"/>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0" name="TextBox 99">
              <a:extLst>
                <a:ext uri="{FF2B5EF4-FFF2-40B4-BE49-F238E27FC236}">
                  <a16:creationId xmlns:a16="http://schemas.microsoft.com/office/drawing/2014/main" id="{635B336C-8999-217E-9D5E-9C467EF19D6B}"/>
                </a:ext>
              </a:extLst>
            </p:cNvPr>
            <p:cNvSpPr txBox="1"/>
            <p:nvPr/>
          </p:nvSpPr>
          <p:spPr>
            <a:xfrm>
              <a:off x="9083537" y="1551151"/>
              <a:ext cx="1025944" cy="387231"/>
            </a:xfrm>
            <a:prstGeom prst="rect">
              <a:avLst/>
            </a:prstGeom>
            <a:noFill/>
          </p:spPr>
          <p:txBody>
            <a:bodyPr wrap="square" rtlCol="0">
              <a:spAutoFit/>
            </a:bodyPr>
            <a:lstStyle/>
            <a:p>
              <a:pPr algn="ctr"/>
              <a:r>
                <a:rPr lang="en-US" sz="1100" b="1" dirty="0">
                  <a:solidFill>
                    <a:schemeClr val="bg1"/>
                  </a:solidFill>
                </a:rPr>
                <a:t>Customer Judgement</a:t>
              </a:r>
            </a:p>
          </p:txBody>
        </p:sp>
      </p:grpSp>
      <p:cxnSp>
        <p:nvCxnSpPr>
          <p:cNvPr id="104" name="Straight Arrow Connector 103">
            <a:extLst>
              <a:ext uri="{FF2B5EF4-FFF2-40B4-BE49-F238E27FC236}">
                <a16:creationId xmlns:a16="http://schemas.microsoft.com/office/drawing/2014/main" id="{F89E70E4-D8A5-7EBE-3621-9D15F193C0B7}"/>
              </a:ext>
            </a:extLst>
          </p:cNvPr>
          <p:cNvCxnSpPr>
            <a:cxnSpLocks/>
            <a:stCxn id="68" idx="3"/>
            <a:endCxn id="70" idx="1"/>
          </p:cNvCxnSpPr>
          <p:nvPr/>
        </p:nvCxnSpPr>
        <p:spPr>
          <a:xfrm flipV="1">
            <a:off x="10481954" y="1938619"/>
            <a:ext cx="577191" cy="109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DEACDF05-5A80-08D4-CD90-9961ABCD6E17}"/>
              </a:ext>
            </a:extLst>
          </p:cNvPr>
          <p:cNvCxnSpPr>
            <a:cxnSpLocks/>
            <a:stCxn id="90" idx="3"/>
            <a:endCxn id="92" idx="1"/>
          </p:cNvCxnSpPr>
          <p:nvPr/>
        </p:nvCxnSpPr>
        <p:spPr>
          <a:xfrm flipV="1">
            <a:off x="6658449" y="5850555"/>
            <a:ext cx="1104854" cy="238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80C347B-E72B-073A-3400-3E0581ABAAA7}"/>
              </a:ext>
            </a:extLst>
          </p:cNvPr>
          <p:cNvCxnSpPr>
            <a:cxnSpLocks/>
            <a:stCxn id="147" idx="2"/>
            <a:endCxn id="90" idx="0"/>
          </p:cNvCxnSpPr>
          <p:nvPr/>
        </p:nvCxnSpPr>
        <p:spPr>
          <a:xfrm>
            <a:off x="6096005" y="5131368"/>
            <a:ext cx="5319" cy="1788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FBE5CDE1-EE95-1722-2774-4244C814E8A1}"/>
              </a:ext>
            </a:extLst>
          </p:cNvPr>
          <p:cNvCxnSpPr>
            <a:cxnSpLocks/>
            <a:stCxn id="64" idx="2"/>
            <a:endCxn id="88" idx="0"/>
          </p:cNvCxnSpPr>
          <p:nvPr/>
        </p:nvCxnSpPr>
        <p:spPr>
          <a:xfrm>
            <a:off x="6096000" y="3940366"/>
            <a:ext cx="0" cy="1426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D19440F-902C-4D64-AD76-7F419A989B27}"/>
              </a:ext>
            </a:extLst>
          </p:cNvPr>
          <p:cNvCxnSpPr>
            <a:cxnSpLocks/>
            <a:stCxn id="64" idx="3"/>
            <a:endCxn id="95" idx="1"/>
          </p:cNvCxnSpPr>
          <p:nvPr/>
        </p:nvCxnSpPr>
        <p:spPr>
          <a:xfrm>
            <a:off x="6653125" y="3397629"/>
            <a:ext cx="250291" cy="67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64AEE75C-1B7E-76FB-48EB-149965D84149}"/>
              </a:ext>
            </a:extLst>
          </p:cNvPr>
          <p:cNvCxnSpPr>
            <a:cxnSpLocks/>
            <a:stCxn id="95" idx="3"/>
            <a:endCxn id="96" idx="1"/>
          </p:cNvCxnSpPr>
          <p:nvPr/>
        </p:nvCxnSpPr>
        <p:spPr>
          <a:xfrm>
            <a:off x="8108918" y="3404358"/>
            <a:ext cx="3150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10705621-CA0F-8E58-5033-4E8E97D4B4AD}"/>
              </a:ext>
            </a:extLst>
          </p:cNvPr>
          <p:cNvCxnSpPr>
            <a:cxnSpLocks/>
            <a:stCxn id="96" idx="3"/>
            <a:endCxn id="97" idx="1"/>
          </p:cNvCxnSpPr>
          <p:nvPr/>
        </p:nvCxnSpPr>
        <p:spPr>
          <a:xfrm>
            <a:off x="10257693" y="3404358"/>
            <a:ext cx="30718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778525C0-DEFA-4BE0-16B6-5A0443571861}"/>
              </a:ext>
            </a:extLst>
          </p:cNvPr>
          <p:cNvCxnSpPr>
            <a:cxnSpLocks/>
            <a:stCxn id="97" idx="2"/>
            <a:endCxn id="99" idx="0"/>
          </p:cNvCxnSpPr>
          <p:nvPr/>
        </p:nvCxnSpPr>
        <p:spPr>
          <a:xfrm>
            <a:off x="11122001" y="3630253"/>
            <a:ext cx="0" cy="1621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FE457B92-CD3E-4281-6FC4-C75C948F2A80}"/>
              </a:ext>
            </a:extLst>
          </p:cNvPr>
          <p:cNvCxnSpPr>
            <a:cxnSpLocks/>
            <a:stCxn id="99" idx="2"/>
            <a:endCxn id="13" idx="0"/>
          </p:cNvCxnSpPr>
          <p:nvPr/>
        </p:nvCxnSpPr>
        <p:spPr>
          <a:xfrm>
            <a:off x="11122001" y="4877918"/>
            <a:ext cx="0" cy="4327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FB0ADCA0-782B-3F84-826A-DDDC3D6DAE26}"/>
              </a:ext>
            </a:extLst>
          </p:cNvPr>
          <p:cNvCxnSpPr>
            <a:cxnSpLocks/>
            <a:stCxn id="92" idx="2"/>
            <a:endCxn id="93" idx="0"/>
          </p:cNvCxnSpPr>
          <p:nvPr/>
        </p:nvCxnSpPr>
        <p:spPr>
          <a:xfrm>
            <a:off x="8591776" y="6069427"/>
            <a:ext cx="4789" cy="196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8AADE947-674C-8713-B83F-B09135C7779E}"/>
              </a:ext>
            </a:extLst>
          </p:cNvPr>
          <p:cNvCxnSpPr>
            <a:cxnSpLocks/>
            <a:stCxn id="99" idx="3"/>
            <a:endCxn id="97" idx="3"/>
          </p:cNvCxnSpPr>
          <p:nvPr/>
        </p:nvCxnSpPr>
        <p:spPr>
          <a:xfrm flipV="1">
            <a:off x="11679126" y="3404358"/>
            <a:ext cx="12700" cy="930823"/>
          </a:xfrm>
          <a:prstGeom prst="bent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7" name="Rectangle 146">
            <a:extLst>
              <a:ext uri="{FF2B5EF4-FFF2-40B4-BE49-F238E27FC236}">
                <a16:creationId xmlns:a16="http://schemas.microsoft.com/office/drawing/2014/main" id="{2F11033B-AA50-3D7A-0989-1C60F95E5812}"/>
              </a:ext>
            </a:extLst>
          </p:cNvPr>
          <p:cNvSpPr/>
          <p:nvPr/>
        </p:nvSpPr>
        <p:spPr>
          <a:xfrm>
            <a:off x="5267532" y="4693624"/>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Trial &amp; Evaluation</a:t>
            </a:r>
          </a:p>
        </p:txBody>
      </p:sp>
      <p:cxnSp>
        <p:nvCxnSpPr>
          <p:cNvPr id="151" name="Straight Arrow Connector 150">
            <a:extLst>
              <a:ext uri="{FF2B5EF4-FFF2-40B4-BE49-F238E27FC236}">
                <a16:creationId xmlns:a16="http://schemas.microsoft.com/office/drawing/2014/main" id="{58AE1759-69B8-33FC-CFB7-9E88E948DB61}"/>
              </a:ext>
            </a:extLst>
          </p:cNvPr>
          <p:cNvCxnSpPr>
            <a:cxnSpLocks/>
            <a:stCxn id="88" idx="2"/>
            <a:endCxn id="147" idx="0"/>
          </p:cNvCxnSpPr>
          <p:nvPr/>
        </p:nvCxnSpPr>
        <p:spPr>
          <a:xfrm>
            <a:off x="6096000" y="4520735"/>
            <a:ext cx="5" cy="17288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8441AA68-E3FA-2C5F-9D7F-691513EB49C3}"/>
              </a:ext>
            </a:extLst>
          </p:cNvPr>
          <p:cNvSpPr txBox="1"/>
          <p:nvPr/>
        </p:nvSpPr>
        <p:spPr>
          <a:xfrm>
            <a:off x="6613033" y="5584106"/>
            <a:ext cx="487258" cy="307777"/>
          </a:xfrm>
          <a:prstGeom prst="rect">
            <a:avLst/>
          </a:prstGeom>
          <a:noFill/>
          <a:ln>
            <a:noFill/>
          </a:ln>
        </p:spPr>
        <p:txBody>
          <a:bodyPr wrap="square" rtlCol="0">
            <a:spAutoFit/>
          </a:bodyPr>
          <a:lstStyle/>
          <a:p>
            <a:pPr algn="ctr"/>
            <a:r>
              <a:rPr lang="en-US" dirty="0"/>
              <a:t>OK</a:t>
            </a:r>
          </a:p>
        </p:txBody>
      </p:sp>
      <p:sp>
        <p:nvSpPr>
          <p:cNvPr id="159" name="TextBox 158">
            <a:extLst>
              <a:ext uri="{FF2B5EF4-FFF2-40B4-BE49-F238E27FC236}">
                <a16:creationId xmlns:a16="http://schemas.microsoft.com/office/drawing/2014/main" id="{1C0FF90D-6C30-3802-417D-BE7468A13F20}"/>
              </a:ext>
            </a:extLst>
          </p:cNvPr>
          <p:cNvSpPr txBox="1"/>
          <p:nvPr/>
        </p:nvSpPr>
        <p:spPr>
          <a:xfrm>
            <a:off x="5012787" y="5513351"/>
            <a:ext cx="501033" cy="307777"/>
          </a:xfrm>
          <a:prstGeom prst="rect">
            <a:avLst/>
          </a:prstGeom>
          <a:noFill/>
          <a:ln>
            <a:noFill/>
          </a:ln>
        </p:spPr>
        <p:txBody>
          <a:bodyPr wrap="square" rtlCol="0">
            <a:spAutoFit/>
          </a:bodyPr>
          <a:lstStyle/>
          <a:p>
            <a:pPr algn="ctr"/>
            <a:r>
              <a:rPr lang="en-US" dirty="0"/>
              <a:t>NG</a:t>
            </a:r>
          </a:p>
        </p:txBody>
      </p:sp>
      <p:sp>
        <p:nvSpPr>
          <p:cNvPr id="160" name="TextBox 159">
            <a:extLst>
              <a:ext uri="{FF2B5EF4-FFF2-40B4-BE49-F238E27FC236}">
                <a16:creationId xmlns:a16="http://schemas.microsoft.com/office/drawing/2014/main" id="{5BEF0167-8507-AF51-D978-8C2E24FCDA3E}"/>
              </a:ext>
            </a:extLst>
          </p:cNvPr>
          <p:cNvSpPr txBox="1"/>
          <p:nvPr/>
        </p:nvSpPr>
        <p:spPr>
          <a:xfrm>
            <a:off x="6458033" y="1611111"/>
            <a:ext cx="651522" cy="307777"/>
          </a:xfrm>
          <a:prstGeom prst="rect">
            <a:avLst/>
          </a:prstGeom>
          <a:noFill/>
          <a:ln>
            <a:noFill/>
          </a:ln>
        </p:spPr>
        <p:txBody>
          <a:bodyPr wrap="square" rtlCol="0">
            <a:spAutoFit/>
          </a:bodyPr>
          <a:lstStyle/>
          <a:p>
            <a:pPr algn="ctr"/>
            <a:r>
              <a:rPr lang="en-US" dirty="0"/>
              <a:t>Need</a:t>
            </a:r>
          </a:p>
        </p:txBody>
      </p:sp>
      <p:sp>
        <p:nvSpPr>
          <p:cNvPr id="161" name="TextBox 160">
            <a:extLst>
              <a:ext uri="{FF2B5EF4-FFF2-40B4-BE49-F238E27FC236}">
                <a16:creationId xmlns:a16="http://schemas.microsoft.com/office/drawing/2014/main" id="{A980633A-AD88-503F-BF7E-EF75AFAE4A36}"/>
              </a:ext>
            </a:extLst>
          </p:cNvPr>
          <p:cNvSpPr txBox="1"/>
          <p:nvPr/>
        </p:nvSpPr>
        <p:spPr>
          <a:xfrm>
            <a:off x="5075415" y="2378163"/>
            <a:ext cx="974072" cy="307777"/>
          </a:xfrm>
          <a:prstGeom prst="rect">
            <a:avLst/>
          </a:prstGeom>
          <a:noFill/>
          <a:ln>
            <a:noFill/>
          </a:ln>
        </p:spPr>
        <p:txBody>
          <a:bodyPr wrap="square" rtlCol="0">
            <a:spAutoFit/>
          </a:bodyPr>
          <a:lstStyle/>
          <a:p>
            <a:pPr algn="ctr"/>
            <a:r>
              <a:rPr lang="en-US" dirty="0"/>
              <a:t>No Need</a:t>
            </a:r>
          </a:p>
        </p:txBody>
      </p:sp>
      <p:sp>
        <p:nvSpPr>
          <p:cNvPr id="163" name="TextBox 162">
            <a:extLst>
              <a:ext uri="{FF2B5EF4-FFF2-40B4-BE49-F238E27FC236}">
                <a16:creationId xmlns:a16="http://schemas.microsoft.com/office/drawing/2014/main" id="{B641A2C9-8EA5-306F-17D6-7305EEE7E00A}"/>
              </a:ext>
            </a:extLst>
          </p:cNvPr>
          <p:cNvSpPr txBox="1"/>
          <p:nvPr/>
        </p:nvSpPr>
        <p:spPr>
          <a:xfrm>
            <a:off x="9379070" y="2385963"/>
            <a:ext cx="487258" cy="307777"/>
          </a:xfrm>
          <a:prstGeom prst="rect">
            <a:avLst/>
          </a:prstGeom>
          <a:noFill/>
          <a:ln>
            <a:noFill/>
          </a:ln>
        </p:spPr>
        <p:txBody>
          <a:bodyPr wrap="square" rtlCol="0">
            <a:spAutoFit/>
          </a:bodyPr>
          <a:lstStyle/>
          <a:p>
            <a:pPr algn="ctr"/>
            <a:r>
              <a:rPr lang="en-US" dirty="0"/>
              <a:t>OK</a:t>
            </a:r>
          </a:p>
        </p:txBody>
      </p:sp>
      <p:sp>
        <p:nvSpPr>
          <p:cNvPr id="164" name="TextBox 163">
            <a:extLst>
              <a:ext uri="{FF2B5EF4-FFF2-40B4-BE49-F238E27FC236}">
                <a16:creationId xmlns:a16="http://schemas.microsoft.com/office/drawing/2014/main" id="{15468C3D-4F51-AC53-1754-5C8DA382B748}"/>
              </a:ext>
            </a:extLst>
          </p:cNvPr>
          <p:cNvSpPr txBox="1"/>
          <p:nvPr/>
        </p:nvSpPr>
        <p:spPr>
          <a:xfrm>
            <a:off x="10551747" y="1577232"/>
            <a:ext cx="487258" cy="307777"/>
          </a:xfrm>
          <a:prstGeom prst="rect">
            <a:avLst/>
          </a:prstGeom>
          <a:noFill/>
          <a:ln>
            <a:noFill/>
          </a:ln>
        </p:spPr>
        <p:txBody>
          <a:bodyPr wrap="square" rtlCol="0">
            <a:spAutoFit/>
          </a:bodyPr>
          <a:lstStyle/>
          <a:p>
            <a:pPr algn="ctr"/>
            <a:r>
              <a:rPr lang="en-US" dirty="0"/>
              <a:t>NG</a:t>
            </a:r>
          </a:p>
        </p:txBody>
      </p:sp>
      <p:sp>
        <p:nvSpPr>
          <p:cNvPr id="166" name="TextBox 165">
            <a:extLst>
              <a:ext uri="{FF2B5EF4-FFF2-40B4-BE49-F238E27FC236}">
                <a16:creationId xmlns:a16="http://schemas.microsoft.com/office/drawing/2014/main" id="{12D83D27-0549-5598-9394-EE7862625A7A}"/>
              </a:ext>
            </a:extLst>
          </p:cNvPr>
          <p:cNvSpPr txBox="1"/>
          <p:nvPr/>
        </p:nvSpPr>
        <p:spPr>
          <a:xfrm>
            <a:off x="4891379" y="3714219"/>
            <a:ext cx="974072" cy="307777"/>
          </a:xfrm>
          <a:prstGeom prst="rect">
            <a:avLst/>
          </a:prstGeom>
          <a:noFill/>
          <a:ln>
            <a:noFill/>
          </a:ln>
        </p:spPr>
        <p:txBody>
          <a:bodyPr wrap="square" rtlCol="0">
            <a:spAutoFit/>
          </a:bodyPr>
          <a:lstStyle/>
          <a:p>
            <a:pPr algn="ctr"/>
            <a:r>
              <a:rPr lang="en-US" dirty="0"/>
              <a:t>No Need</a:t>
            </a:r>
          </a:p>
        </p:txBody>
      </p:sp>
      <p:sp>
        <p:nvSpPr>
          <p:cNvPr id="167" name="TextBox 166">
            <a:extLst>
              <a:ext uri="{FF2B5EF4-FFF2-40B4-BE49-F238E27FC236}">
                <a16:creationId xmlns:a16="http://schemas.microsoft.com/office/drawing/2014/main" id="{DBC6A24C-66C8-339D-8954-854BEF851533}"/>
              </a:ext>
            </a:extLst>
          </p:cNvPr>
          <p:cNvSpPr txBox="1"/>
          <p:nvPr/>
        </p:nvSpPr>
        <p:spPr>
          <a:xfrm>
            <a:off x="6359729" y="2915138"/>
            <a:ext cx="651522" cy="307777"/>
          </a:xfrm>
          <a:prstGeom prst="rect">
            <a:avLst/>
          </a:prstGeom>
          <a:noFill/>
          <a:ln>
            <a:noFill/>
          </a:ln>
        </p:spPr>
        <p:txBody>
          <a:bodyPr wrap="square" rtlCol="0">
            <a:spAutoFit/>
          </a:bodyPr>
          <a:lstStyle/>
          <a:p>
            <a:pPr algn="ctr"/>
            <a:r>
              <a:rPr lang="en-US" dirty="0"/>
              <a:t>Need</a:t>
            </a:r>
          </a:p>
        </p:txBody>
      </p:sp>
      <p:cxnSp>
        <p:nvCxnSpPr>
          <p:cNvPr id="169" name="Straight Arrow Connector 168">
            <a:extLst>
              <a:ext uri="{FF2B5EF4-FFF2-40B4-BE49-F238E27FC236}">
                <a16:creationId xmlns:a16="http://schemas.microsoft.com/office/drawing/2014/main" id="{D197CCA6-A422-9125-B6D6-8BE5E7469B48}"/>
              </a:ext>
            </a:extLst>
          </p:cNvPr>
          <p:cNvCxnSpPr>
            <a:cxnSpLocks/>
            <a:stCxn id="48" idx="2"/>
            <a:endCxn id="60" idx="0"/>
          </p:cNvCxnSpPr>
          <p:nvPr/>
        </p:nvCxnSpPr>
        <p:spPr>
          <a:xfrm>
            <a:off x="6091355" y="1261002"/>
            <a:ext cx="4645" cy="1703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97567507-9836-4D3F-5E52-4715739AEB5C}"/>
              </a:ext>
            </a:extLst>
          </p:cNvPr>
          <p:cNvSpPr txBox="1"/>
          <p:nvPr/>
        </p:nvSpPr>
        <p:spPr>
          <a:xfrm>
            <a:off x="121920" y="101600"/>
            <a:ext cx="7340764" cy="523220"/>
          </a:xfrm>
          <a:prstGeom prst="rect">
            <a:avLst/>
          </a:prstGeom>
          <a:noFill/>
        </p:spPr>
        <p:txBody>
          <a:bodyPr wrap="square" rtlCol="0">
            <a:spAutoFit/>
          </a:bodyPr>
          <a:lstStyle/>
          <a:p>
            <a:r>
              <a:rPr lang="en-US" sz="2800" b="1" dirty="0">
                <a:solidFill>
                  <a:srgbClr val="0070C0"/>
                </a:solidFill>
              </a:rPr>
              <a:t>3. Proposed Flow Process</a:t>
            </a:r>
          </a:p>
        </p:txBody>
      </p:sp>
      <p:grpSp>
        <p:nvGrpSpPr>
          <p:cNvPr id="12" name="Group 11">
            <a:extLst>
              <a:ext uri="{FF2B5EF4-FFF2-40B4-BE49-F238E27FC236}">
                <a16:creationId xmlns:a16="http://schemas.microsoft.com/office/drawing/2014/main" id="{80420364-6375-64AB-414B-972EDECA7F85}"/>
              </a:ext>
            </a:extLst>
          </p:cNvPr>
          <p:cNvGrpSpPr/>
          <p:nvPr/>
        </p:nvGrpSpPr>
        <p:grpSpPr>
          <a:xfrm>
            <a:off x="10564876" y="5310647"/>
            <a:ext cx="1114250" cy="1085475"/>
            <a:chOff x="9039384" y="1256859"/>
            <a:chExt cx="1114250" cy="975498"/>
          </a:xfrm>
        </p:grpSpPr>
        <p:sp>
          <p:nvSpPr>
            <p:cNvPr id="13" name="Diamond 12">
              <a:extLst>
                <a:ext uri="{FF2B5EF4-FFF2-40B4-BE49-F238E27FC236}">
                  <a16:creationId xmlns:a16="http://schemas.microsoft.com/office/drawing/2014/main" id="{F5C32DA5-5FEC-6366-EDC3-CD472894763C}"/>
                </a:ext>
              </a:extLst>
            </p:cNvPr>
            <p:cNvSpPr/>
            <p:nvPr/>
          </p:nvSpPr>
          <p:spPr>
            <a:xfrm>
              <a:off x="9039384" y="1256859"/>
              <a:ext cx="1114250" cy="975498"/>
            </a:xfrm>
            <a:prstGeom prst="diamond">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TextBox 13">
              <a:extLst>
                <a:ext uri="{FF2B5EF4-FFF2-40B4-BE49-F238E27FC236}">
                  <a16:creationId xmlns:a16="http://schemas.microsoft.com/office/drawing/2014/main" id="{5240E6EB-3B22-30CB-C59F-7798C740E027}"/>
                </a:ext>
              </a:extLst>
            </p:cNvPr>
            <p:cNvSpPr txBox="1"/>
            <p:nvPr/>
          </p:nvSpPr>
          <p:spPr>
            <a:xfrm>
              <a:off x="9087704" y="1541791"/>
              <a:ext cx="1025944" cy="387231"/>
            </a:xfrm>
            <a:prstGeom prst="rect">
              <a:avLst/>
            </a:prstGeom>
            <a:noFill/>
          </p:spPr>
          <p:txBody>
            <a:bodyPr wrap="square" rtlCol="0">
              <a:spAutoFit/>
            </a:bodyPr>
            <a:lstStyle/>
            <a:p>
              <a:pPr algn="ctr"/>
              <a:r>
                <a:rPr lang="en-US" sz="1100" b="1" dirty="0" err="1">
                  <a:solidFill>
                    <a:schemeClr val="bg1"/>
                  </a:solidFill>
                </a:rPr>
                <a:t>Intenral</a:t>
              </a:r>
              <a:r>
                <a:rPr lang="en-US" sz="1100" b="1" dirty="0">
                  <a:solidFill>
                    <a:schemeClr val="bg1"/>
                  </a:solidFill>
                </a:rPr>
                <a:t> QM Verification</a:t>
              </a:r>
            </a:p>
          </p:txBody>
        </p:sp>
      </p:grpSp>
      <p:cxnSp>
        <p:nvCxnSpPr>
          <p:cNvPr id="17" name="Straight Arrow Connector 16">
            <a:extLst>
              <a:ext uri="{FF2B5EF4-FFF2-40B4-BE49-F238E27FC236}">
                <a16:creationId xmlns:a16="http://schemas.microsoft.com/office/drawing/2014/main" id="{CFFB1E8D-7B56-397B-B2BD-111B883E0723}"/>
              </a:ext>
            </a:extLst>
          </p:cNvPr>
          <p:cNvCxnSpPr>
            <a:cxnSpLocks/>
            <a:stCxn id="13" idx="1"/>
            <a:endCxn id="92" idx="3"/>
          </p:cNvCxnSpPr>
          <p:nvPr/>
        </p:nvCxnSpPr>
        <p:spPr>
          <a:xfrm flipH="1" flipV="1">
            <a:off x="9420248" y="5850555"/>
            <a:ext cx="1144628" cy="283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471224FA-A4E0-4753-4748-FFCCB34B86CE}"/>
              </a:ext>
            </a:extLst>
          </p:cNvPr>
          <p:cNvCxnSpPr>
            <a:cxnSpLocks/>
            <a:stCxn id="14" idx="3"/>
            <a:endCxn id="97" idx="3"/>
          </p:cNvCxnSpPr>
          <p:nvPr/>
        </p:nvCxnSpPr>
        <p:spPr>
          <a:xfrm flipV="1">
            <a:off x="11639140" y="3404358"/>
            <a:ext cx="39986" cy="2438788"/>
          </a:xfrm>
          <a:prstGeom prst="bentConnector3">
            <a:avLst>
              <a:gd name="adj1" fmla="val 6717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69ECE26-3849-C895-7AF0-51D165744D5B}"/>
              </a:ext>
            </a:extLst>
          </p:cNvPr>
          <p:cNvSpPr txBox="1"/>
          <p:nvPr/>
        </p:nvSpPr>
        <p:spPr>
          <a:xfrm>
            <a:off x="10121771" y="5581702"/>
            <a:ext cx="487258" cy="307777"/>
          </a:xfrm>
          <a:prstGeom prst="rect">
            <a:avLst/>
          </a:prstGeom>
          <a:noFill/>
          <a:ln>
            <a:noFill/>
          </a:ln>
        </p:spPr>
        <p:txBody>
          <a:bodyPr wrap="square" rtlCol="0">
            <a:spAutoFit/>
          </a:bodyPr>
          <a:lstStyle/>
          <a:p>
            <a:pPr algn="ctr"/>
            <a:r>
              <a:rPr lang="en-US" dirty="0"/>
              <a:t>OK</a:t>
            </a:r>
          </a:p>
        </p:txBody>
      </p:sp>
      <p:sp>
        <p:nvSpPr>
          <p:cNvPr id="27" name="TextBox 26">
            <a:extLst>
              <a:ext uri="{FF2B5EF4-FFF2-40B4-BE49-F238E27FC236}">
                <a16:creationId xmlns:a16="http://schemas.microsoft.com/office/drawing/2014/main" id="{BC698FEF-3825-753E-2E74-8D5DC02E44D2}"/>
              </a:ext>
            </a:extLst>
          </p:cNvPr>
          <p:cNvSpPr txBox="1"/>
          <p:nvPr/>
        </p:nvSpPr>
        <p:spPr>
          <a:xfrm>
            <a:off x="10678896" y="4944287"/>
            <a:ext cx="487258" cy="307777"/>
          </a:xfrm>
          <a:prstGeom prst="rect">
            <a:avLst/>
          </a:prstGeom>
          <a:noFill/>
          <a:ln>
            <a:noFill/>
          </a:ln>
        </p:spPr>
        <p:txBody>
          <a:bodyPr wrap="square" rtlCol="0">
            <a:spAutoFit/>
          </a:bodyPr>
          <a:lstStyle/>
          <a:p>
            <a:pPr algn="ctr"/>
            <a:r>
              <a:rPr lang="en-US" dirty="0"/>
              <a:t>OK</a:t>
            </a:r>
          </a:p>
        </p:txBody>
      </p:sp>
      <p:sp>
        <p:nvSpPr>
          <p:cNvPr id="28" name="TextBox 27">
            <a:extLst>
              <a:ext uri="{FF2B5EF4-FFF2-40B4-BE49-F238E27FC236}">
                <a16:creationId xmlns:a16="http://schemas.microsoft.com/office/drawing/2014/main" id="{01F8DC57-1787-7461-F7A0-37628A59119B}"/>
              </a:ext>
            </a:extLst>
          </p:cNvPr>
          <p:cNvSpPr txBox="1"/>
          <p:nvPr/>
        </p:nvSpPr>
        <p:spPr>
          <a:xfrm>
            <a:off x="11502049" y="4869001"/>
            <a:ext cx="501033" cy="307777"/>
          </a:xfrm>
          <a:prstGeom prst="rect">
            <a:avLst/>
          </a:prstGeom>
          <a:noFill/>
          <a:ln>
            <a:noFill/>
          </a:ln>
        </p:spPr>
        <p:txBody>
          <a:bodyPr wrap="square" rtlCol="0">
            <a:spAutoFit/>
          </a:bodyPr>
          <a:lstStyle/>
          <a:p>
            <a:pPr algn="ctr"/>
            <a:r>
              <a:rPr lang="en-US" dirty="0"/>
              <a:t>NG</a:t>
            </a:r>
          </a:p>
        </p:txBody>
      </p:sp>
      <p:sp>
        <p:nvSpPr>
          <p:cNvPr id="30" name="Rectangle 29">
            <a:extLst>
              <a:ext uri="{FF2B5EF4-FFF2-40B4-BE49-F238E27FC236}">
                <a16:creationId xmlns:a16="http://schemas.microsoft.com/office/drawing/2014/main" id="{249B4861-17AE-F890-AA56-F6FC9CAE7C78}"/>
              </a:ext>
            </a:extLst>
          </p:cNvPr>
          <p:cNvSpPr/>
          <p:nvPr/>
        </p:nvSpPr>
        <p:spPr>
          <a:xfrm>
            <a:off x="3869972" y="780539"/>
            <a:ext cx="885604" cy="520705"/>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PE Window</a:t>
            </a:r>
          </a:p>
        </p:txBody>
      </p:sp>
      <p:cxnSp>
        <p:nvCxnSpPr>
          <p:cNvPr id="31" name="Connector: Elbow 30">
            <a:extLst>
              <a:ext uri="{FF2B5EF4-FFF2-40B4-BE49-F238E27FC236}">
                <a16:creationId xmlns:a16="http://schemas.microsoft.com/office/drawing/2014/main" id="{0E63B705-F1BF-002A-FA94-53005AA8EEFC}"/>
              </a:ext>
            </a:extLst>
          </p:cNvPr>
          <p:cNvCxnSpPr>
            <a:cxnSpLocks/>
            <a:stCxn id="4" idx="3"/>
            <a:endCxn id="30" idx="2"/>
          </p:cNvCxnSpPr>
          <p:nvPr/>
        </p:nvCxnSpPr>
        <p:spPr>
          <a:xfrm flipV="1">
            <a:off x="3083415" y="1301244"/>
            <a:ext cx="1229359" cy="2287596"/>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8115A251-59CD-CB59-0F6B-1EF75F7E42D8}"/>
              </a:ext>
            </a:extLst>
          </p:cNvPr>
          <p:cNvCxnSpPr>
            <a:cxnSpLocks/>
            <a:stCxn id="5" idx="3"/>
            <a:endCxn id="30" idx="2"/>
          </p:cNvCxnSpPr>
          <p:nvPr/>
        </p:nvCxnSpPr>
        <p:spPr>
          <a:xfrm flipV="1">
            <a:off x="3468494" y="1301244"/>
            <a:ext cx="844280" cy="1048118"/>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2B0F988-B5E9-9CC9-6ACC-262A88241588}"/>
              </a:ext>
            </a:extLst>
          </p:cNvPr>
          <p:cNvCxnSpPr>
            <a:cxnSpLocks/>
            <a:stCxn id="30" idx="3"/>
            <a:endCxn id="48" idx="1"/>
          </p:cNvCxnSpPr>
          <p:nvPr/>
        </p:nvCxnSpPr>
        <p:spPr>
          <a:xfrm>
            <a:off x="4755576" y="1040892"/>
            <a:ext cx="507306" cy="12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861BC0F-325E-1007-0EA3-9A3D964F2470}"/>
              </a:ext>
            </a:extLst>
          </p:cNvPr>
          <p:cNvCxnSpPr>
            <a:cxnSpLocks/>
            <a:stCxn id="8" idx="3"/>
            <a:endCxn id="30" idx="1"/>
          </p:cNvCxnSpPr>
          <p:nvPr/>
        </p:nvCxnSpPr>
        <p:spPr>
          <a:xfrm>
            <a:off x="2931811" y="1039106"/>
            <a:ext cx="938161" cy="17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ACB76D67-FE69-6175-748A-0AEC40049481}"/>
              </a:ext>
            </a:extLst>
          </p:cNvPr>
          <p:cNvSpPr/>
          <p:nvPr/>
        </p:nvSpPr>
        <p:spPr>
          <a:xfrm>
            <a:off x="8350806" y="3864119"/>
            <a:ext cx="1656945" cy="437744"/>
          </a:xfrm>
          <a:prstGeom prst="rect">
            <a:avLst/>
          </a:prstGeom>
          <a:solidFill>
            <a:schemeClr val="accent6">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Internal Requirement List</a:t>
            </a:r>
          </a:p>
        </p:txBody>
      </p:sp>
      <p:cxnSp>
        <p:nvCxnSpPr>
          <p:cNvPr id="55" name="Connector: Elbow 54">
            <a:extLst>
              <a:ext uri="{FF2B5EF4-FFF2-40B4-BE49-F238E27FC236}">
                <a16:creationId xmlns:a16="http://schemas.microsoft.com/office/drawing/2014/main" id="{9D2B29BC-3D90-7AA0-A0B2-1AC1337B7A14}"/>
              </a:ext>
            </a:extLst>
          </p:cNvPr>
          <p:cNvCxnSpPr>
            <a:cxnSpLocks/>
            <a:stCxn id="95" idx="2"/>
            <a:endCxn id="51" idx="1"/>
          </p:cNvCxnSpPr>
          <p:nvPr/>
        </p:nvCxnSpPr>
        <p:spPr>
          <a:xfrm rot="16200000" flipH="1">
            <a:off x="7702117" y="3434302"/>
            <a:ext cx="452738" cy="844639"/>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5E32F89C-7C77-F47C-8F46-029A5D15FFA8}"/>
              </a:ext>
            </a:extLst>
          </p:cNvPr>
          <p:cNvCxnSpPr>
            <a:cxnSpLocks/>
            <a:stCxn id="51" idx="3"/>
          </p:cNvCxnSpPr>
          <p:nvPr/>
        </p:nvCxnSpPr>
        <p:spPr>
          <a:xfrm flipV="1">
            <a:off x="10007751" y="3404357"/>
            <a:ext cx="384054" cy="67863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5675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71D6541-D143-7990-08A0-5EAA04B2EBE0}"/>
              </a:ext>
            </a:extLst>
          </p:cNvPr>
          <p:cNvGraphicFramePr>
            <a:graphicFrameLocks noGrp="1"/>
          </p:cNvGraphicFramePr>
          <p:nvPr>
            <p:extLst>
              <p:ext uri="{D42A27DB-BD31-4B8C-83A1-F6EECF244321}">
                <p14:modId xmlns:p14="http://schemas.microsoft.com/office/powerpoint/2010/main" val="3127362528"/>
              </p:ext>
            </p:extLst>
          </p:nvPr>
        </p:nvGraphicFramePr>
        <p:xfrm>
          <a:off x="53972" y="833438"/>
          <a:ext cx="11363324" cy="5186361"/>
        </p:xfrm>
        <a:graphic>
          <a:graphicData uri="http://schemas.openxmlformats.org/drawingml/2006/table">
            <a:tbl>
              <a:tblPr>
                <a:tableStyleId>{5C22544A-7EE6-4342-B048-85BDC9FD1C3A}</a:tableStyleId>
              </a:tblPr>
              <a:tblGrid>
                <a:gridCol w="435710">
                  <a:extLst>
                    <a:ext uri="{9D8B030D-6E8A-4147-A177-3AD203B41FA5}">
                      <a16:colId xmlns:a16="http://schemas.microsoft.com/office/drawing/2014/main" val="248029796"/>
                    </a:ext>
                  </a:extLst>
                </a:gridCol>
                <a:gridCol w="4450618">
                  <a:extLst>
                    <a:ext uri="{9D8B030D-6E8A-4147-A177-3AD203B41FA5}">
                      <a16:colId xmlns:a16="http://schemas.microsoft.com/office/drawing/2014/main" val="2917810547"/>
                    </a:ext>
                  </a:extLst>
                </a:gridCol>
                <a:gridCol w="638480">
                  <a:extLst>
                    <a:ext uri="{9D8B030D-6E8A-4147-A177-3AD203B41FA5}">
                      <a16:colId xmlns:a16="http://schemas.microsoft.com/office/drawing/2014/main" val="575295008"/>
                    </a:ext>
                  </a:extLst>
                </a:gridCol>
                <a:gridCol w="383425">
                  <a:extLst>
                    <a:ext uri="{9D8B030D-6E8A-4147-A177-3AD203B41FA5}">
                      <a16:colId xmlns:a16="http://schemas.microsoft.com/office/drawing/2014/main" val="2554836934"/>
                    </a:ext>
                  </a:extLst>
                </a:gridCol>
                <a:gridCol w="313711">
                  <a:extLst>
                    <a:ext uri="{9D8B030D-6E8A-4147-A177-3AD203B41FA5}">
                      <a16:colId xmlns:a16="http://schemas.microsoft.com/office/drawing/2014/main" val="2887151598"/>
                    </a:ext>
                  </a:extLst>
                </a:gridCol>
                <a:gridCol w="383425">
                  <a:extLst>
                    <a:ext uri="{9D8B030D-6E8A-4147-A177-3AD203B41FA5}">
                      <a16:colId xmlns:a16="http://schemas.microsoft.com/office/drawing/2014/main" val="2973090590"/>
                    </a:ext>
                  </a:extLst>
                </a:gridCol>
                <a:gridCol w="383425">
                  <a:extLst>
                    <a:ext uri="{9D8B030D-6E8A-4147-A177-3AD203B41FA5}">
                      <a16:colId xmlns:a16="http://schemas.microsoft.com/office/drawing/2014/main" val="2007785194"/>
                    </a:ext>
                  </a:extLst>
                </a:gridCol>
                <a:gridCol w="383425">
                  <a:extLst>
                    <a:ext uri="{9D8B030D-6E8A-4147-A177-3AD203B41FA5}">
                      <a16:colId xmlns:a16="http://schemas.microsoft.com/office/drawing/2014/main" val="368721331"/>
                    </a:ext>
                  </a:extLst>
                </a:gridCol>
                <a:gridCol w="313711">
                  <a:extLst>
                    <a:ext uri="{9D8B030D-6E8A-4147-A177-3AD203B41FA5}">
                      <a16:colId xmlns:a16="http://schemas.microsoft.com/office/drawing/2014/main" val="4097451636"/>
                    </a:ext>
                  </a:extLst>
                </a:gridCol>
                <a:gridCol w="383425">
                  <a:extLst>
                    <a:ext uri="{9D8B030D-6E8A-4147-A177-3AD203B41FA5}">
                      <a16:colId xmlns:a16="http://schemas.microsoft.com/office/drawing/2014/main" val="2329206838"/>
                    </a:ext>
                  </a:extLst>
                </a:gridCol>
                <a:gridCol w="383425">
                  <a:extLst>
                    <a:ext uri="{9D8B030D-6E8A-4147-A177-3AD203B41FA5}">
                      <a16:colId xmlns:a16="http://schemas.microsoft.com/office/drawing/2014/main" val="3917815453"/>
                    </a:ext>
                  </a:extLst>
                </a:gridCol>
                <a:gridCol w="313711">
                  <a:extLst>
                    <a:ext uri="{9D8B030D-6E8A-4147-A177-3AD203B41FA5}">
                      <a16:colId xmlns:a16="http://schemas.microsoft.com/office/drawing/2014/main" val="968077576"/>
                    </a:ext>
                  </a:extLst>
                </a:gridCol>
                <a:gridCol w="313711">
                  <a:extLst>
                    <a:ext uri="{9D8B030D-6E8A-4147-A177-3AD203B41FA5}">
                      <a16:colId xmlns:a16="http://schemas.microsoft.com/office/drawing/2014/main" val="2039955978"/>
                    </a:ext>
                  </a:extLst>
                </a:gridCol>
                <a:gridCol w="383425">
                  <a:extLst>
                    <a:ext uri="{9D8B030D-6E8A-4147-A177-3AD203B41FA5}">
                      <a16:colId xmlns:a16="http://schemas.microsoft.com/office/drawing/2014/main" val="4102110613"/>
                    </a:ext>
                  </a:extLst>
                </a:gridCol>
                <a:gridCol w="313711">
                  <a:extLst>
                    <a:ext uri="{9D8B030D-6E8A-4147-A177-3AD203B41FA5}">
                      <a16:colId xmlns:a16="http://schemas.microsoft.com/office/drawing/2014/main" val="4144196495"/>
                    </a:ext>
                  </a:extLst>
                </a:gridCol>
                <a:gridCol w="1585986">
                  <a:extLst>
                    <a:ext uri="{9D8B030D-6E8A-4147-A177-3AD203B41FA5}">
                      <a16:colId xmlns:a16="http://schemas.microsoft.com/office/drawing/2014/main" val="3729660290"/>
                    </a:ext>
                  </a:extLst>
                </a:gridCol>
              </a:tblGrid>
              <a:tr h="411583">
                <a:tc rowSpan="2">
                  <a:txBody>
                    <a:bodyPr/>
                    <a:lstStyle/>
                    <a:p>
                      <a:pPr algn="ctr" fontAlgn="ctr"/>
                      <a:r>
                        <a:rPr lang="en-US" sz="2000" b="1" u="none" strike="noStrike" dirty="0">
                          <a:solidFill>
                            <a:schemeClr val="bg1"/>
                          </a:solidFill>
                          <a:effectLst/>
                        </a:rPr>
                        <a:t>No</a:t>
                      </a:r>
                      <a:endParaRPr lang="en-US" sz="2000" b="1" i="0" u="none" strike="noStrike" dirty="0">
                        <a:solidFill>
                          <a:schemeClr val="bg1"/>
                        </a:solidFill>
                        <a:effectLst/>
                        <a:latin typeface="Tahoma" panose="020B0604030504040204" pitchFamily="34" charset="0"/>
                      </a:endParaRPr>
                    </a:p>
                  </a:txBody>
                  <a:tcPr marL="0" marR="0" marT="0" marB="0" anchor="ctr">
                    <a:solidFill>
                      <a:schemeClr val="accent5">
                        <a:lumMod val="75000"/>
                      </a:schemeClr>
                    </a:solidFill>
                  </a:tcPr>
                </a:tc>
                <a:tc rowSpan="2">
                  <a:txBody>
                    <a:bodyPr/>
                    <a:lstStyle/>
                    <a:p>
                      <a:pPr algn="ctr" fontAlgn="ctr"/>
                      <a:r>
                        <a:rPr lang="en-US" sz="2000" b="1" u="none" strike="noStrike" dirty="0">
                          <a:solidFill>
                            <a:schemeClr val="bg1"/>
                          </a:solidFill>
                          <a:effectLst/>
                        </a:rPr>
                        <a:t>Item</a:t>
                      </a:r>
                      <a:endParaRPr lang="en-US" sz="2000" b="1" i="0" u="none" strike="noStrike" dirty="0">
                        <a:solidFill>
                          <a:schemeClr val="bg1"/>
                        </a:solidFill>
                        <a:effectLst/>
                        <a:latin typeface="Tahoma" panose="020B0604030504040204" pitchFamily="34" charset="0"/>
                      </a:endParaRPr>
                    </a:p>
                  </a:txBody>
                  <a:tcPr marL="0" marR="0" marT="0" marB="0" anchor="ctr">
                    <a:solidFill>
                      <a:schemeClr val="accent5">
                        <a:lumMod val="75000"/>
                      </a:schemeClr>
                    </a:solidFill>
                  </a:tcPr>
                </a:tc>
                <a:tc rowSpan="2">
                  <a:txBody>
                    <a:bodyPr/>
                    <a:lstStyle/>
                    <a:p>
                      <a:pPr algn="ctr" fontAlgn="ctr"/>
                      <a:r>
                        <a:rPr lang="en-US" sz="1800" b="1" u="none" strike="noStrike" dirty="0">
                          <a:solidFill>
                            <a:schemeClr val="bg1"/>
                          </a:solidFill>
                          <a:effectLst/>
                        </a:rPr>
                        <a:t>Lead by</a:t>
                      </a:r>
                      <a:endParaRPr lang="en-US" sz="1800" b="1" i="0" u="none" strike="noStrike" dirty="0">
                        <a:solidFill>
                          <a:schemeClr val="bg1"/>
                        </a:solidFill>
                        <a:effectLst/>
                        <a:latin typeface="Tahoma" panose="020B0604030504040204" pitchFamily="34" charset="0"/>
                      </a:endParaRPr>
                    </a:p>
                  </a:txBody>
                  <a:tcPr marL="0" marR="0" marT="0" marB="0" anchor="ctr">
                    <a:solidFill>
                      <a:schemeClr val="accent5">
                        <a:lumMod val="75000"/>
                      </a:schemeClr>
                    </a:solidFill>
                  </a:tcPr>
                </a:tc>
                <a:tc gridSpan="9">
                  <a:txBody>
                    <a:bodyPr/>
                    <a:lstStyle/>
                    <a:p>
                      <a:pPr algn="ctr" fontAlgn="ctr"/>
                      <a:r>
                        <a:rPr lang="en-US" sz="1200" u="none" strike="noStrike" dirty="0">
                          <a:solidFill>
                            <a:schemeClr val="bg1"/>
                          </a:solidFill>
                          <a:effectLst/>
                        </a:rPr>
                        <a:t>2025</a:t>
                      </a:r>
                      <a:endParaRPr lang="en-US" sz="1200" b="0" i="0" u="none" strike="noStrike" dirty="0">
                        <a:solidFill>
                          <a:schemeClr val="bg1"/>
                        </a:solidFill>
                        <a:effectLst/>
                        <a:latin typeface="Tahoma" panose="020B0604030504040204" pitchFamily="34" charset="0"/>
                      </a:endParaRPr>
                    </a:p>
                  </a:txBody>
                  <a:tcPr marL="0" marR="0" marT="0" marB="0" anchor="ctr">
                    <a:solidFill>
                      <a:schemeClr val="accent1">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ctr"/>
                      <a:r>
                        <a:rPr lang="en-US" sz="1200" u="none" strike="noStrike" dirty="0">
                          <a:solidFill>
                            <a:schemeClr val="bg1"/>
                          </a:solidFill>
                          <a:effectLst/>
                        </a:rPr>
                        <a:t>2026</a:t>
                      </a:r>
                      <a:endParaRPr lang="en-US" sz="1200" b="0" i="0" u="none" strike="noStrike" dirty="0">
                        <a:solidFill>
                          <a:schemeClr val="bg1"/>
                        </a:solidFill>
                        <a:effectLst/>
                        <a:latin typeface="Tahoma" panose="020B0604030504040204" pitchFamily="34" charset="0"/>
                      </a:endParaRPr>
                    </a:p>
                  </a:txBody>
                  <a:tcPr marL="0" marR="0" marT="0" marB="0" anchor="ctr">
                    <a:solidFill>
                      <a:schemeClr val="accent6">
                        <a:lumMod val="75000"/>
                      </a:schemeClr>
                    </a:solidFill>
                  </a:tcPr>
                </a:tc>
                <a:tc hMerge="1">
                  <a:txBody>
                    <a:bodyPr/>
                    <a:lstStyle/>
                    <a:p>
                      <a:endParaRPr lang="en-US"/>
                    </a:p>
                  </a:txBody>
                  <a:tcPr/>
                </a:tc>
                <a:tc hMerge="1">
                  <a:txBody>
                    <a:bodyPr/>
                    <a:lstStyle/>
                    <a:p>
                      <a:endParaRPr lang="en-US"/>
                    </a:p>
                  </a:txBody>
                  <a:tcPr/>
                </a:tc>
                <a:tc rowSpan="2">
                  <a:txBody>
                    <a:bodyPr/>
                    <a:lstStyle/>
                    <a:p>
                      <a:pPr algn="ctr" fontAlgn="ctr"/>
                      <a:r>
                        <a:rPr lang="en-US" sz="2000" b="1" u="none" strike="noStrike" dirty="0">
                          <a:solidFill>
                            <a:schemeClr val="bg1"/>
                          </a:solidFill>
                          <a:effectLst/>
                        </a:rPr>
                        <a:t>Remark</a:t>
                      </a:r>
                      <a:endParaRPr lang="en-US" sz="2000" b="1" i="0" u="none" strike="noStrike" dirty="0">
                        <a:solidFill>
                          <a:schemeClr val="bg1"/>
                        </a:solidFill>
                        <a:effectLst/>
                        <a:latin typeface="Tahoma" panose="020B0604030504040204" pitchFamily="34" charset="0"/>
                      </a:endParaRPr>
                    </a:p>
                  </a:txBody>
                  <a:tcPr marL="0" marR="0" marT="0" marB="0" anchor="ctr">
                    <a:solidFill>
                      <a:srgbClr val="0070C0"/>
                    </a:solidFill>
                  </a:tcPr>
                </a:tc>
                <a:extLst>
                  <a:ext uri="{0D108BD9-81ED-4DB2-BD59-A6C34878D82A}">
                    <a16:rowId xmlns:a16="http://schemas.microsoft.com/office/drawing/2014/main" val="704484214"/>
                  </a:ext>
                </a:extLst>
              </a:tr>
              <a:tr h="4115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dirty="0">
                          <a:effectLst/>
                        </a:rPr>
                        <a:t>4</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a:effectLst/>
                        </a:rPr>
                        <a:t>5</a:t>
                      </a:r>
                      <a:endParaRPr lang="en-US" sz="1050" b="0" i="0" u="none" strike="noStrike">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6</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7</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a:effectLst/>
                        </a:rPr>
                        <a:t>8</a:t>
                      </a:r>
                      <a:endParaRPr lang="en-US" sz="1050" b="0" i="0" u="none" strike="noStrike">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9</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a:effectLst/>
                        </a:rPr>
                        <a:t>10</a:t>
                      </a:r>
                      <a:endParaRPr lang="en-US" sz="1050" b="0" i="0" u="none" strike="noStrike">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11</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12</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1">
                        <a:lumMod val="20000"/>
                        <a:lumOff val="80000"/>
                      </a:schemeClr>
                    </a:solidFill>
                  </a:tcPr>
                </a:tc>
                <a:tc>
                  <a:txBody>
                    <a:bodyPr/>
                    <a:lstStyle/>
                    <a:p>
                      <a:pPr algn="ctr" fontAlgn="ctr"/>
                      <a:r>
                        <a:rPr lang="en-US" sz="1050" u="none" strike="noStrike" dirty="0">
                          <a:effectLst/>
                        </a:rPr>
                        <a:t>1</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6">
                        <a:lumMod val="20000"/>
                        <a:lumOff val="80000"/>
                      </a:schemeClr>
                    </a:solidFill>
                  </a:tcPr>
                </a:tc>
                <a:tc>
                  <a:txBody>
                    <a:bodyPr/>
                    <a:lstStyle/>
                    <a:p>
                      <a:pPr algn="ctr" fontAlgn="ctr"/>
                      <a:r>
                        <a:rPr lang="en-US" sz="1050" u="none" strike="noStrike" dirty="0">
                          <a:effectLst/>
                        </a:rPr>
                        <a:t>2</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6">
                        <a:lumMod val="20000"/>
                        <a:lumOff val="80000"/>
                      </a:schemeClr>
                    </a:solidFill>
                  </a:tcPr>
                </a:tc>
                <a:tc>
                  <a:txBody>
                    <a:bodyPr/>
                    <a:lstStyle/>
                    <a:p>
                      <a:pPr algn="ctr" fontAlgn="ctr"/>
                      <a:r>
                        <a:rPr lang="en-US" sz="1050" u="none" strike="noStrike" dirty="0">
                          <a:effectLst/>
                        </a:rPr>
                        <a:t>3</a:t>
                      </a:r>
                      <a:endParaRPr lang="en-US" sz="1050" b="0" i="0" u="none" strike="noStrike" dirty="0">
                        <a:solidFill>
                          <a:srgbClr val="000000"/>
                        </a:solidFill>
                        <a:effectLst/>
                        <a:latin typeface="Tahoma" panose="020B0604030504040204" pitchFamily="34" charset="0"/>
                      </a:endParaRPr>
                    </a:p>
                  </a:txBody>
                  <a:tcPr marL="0" marR="0" marT="0" marB="0" anchor="ctr">
                    <a:solidFill>
                      <a:schemeClr val="accent6">
                        <a:lumMod val="20000"/>
                        <a:lumOff val="80000"/>
                      </a:schemeClr>
                    </a:solidFill>
                  </a:tcPr>
                </a:tc>
                <a:tc vMerge="1">
                  <a:txBody>
                    <a:bodyPr/>
                    <a:lstStyle/>
                    <a:p>
                      <a:endParaRPr lang="en-US"/>
                    </a:p>
                  </a:txBody>
                  <a:tcPr/>
                </a:tc>
                <a:extLst>
                  <a:ext uri="{0D108BD9-81ED-4DB2-BD59-A6C34878D82A}">
                    <a16:rowId xmlns:a16="http://schemas.microsoft.com/office/drawing/2014/main" val="1537619435"/>
                  </a:ext>
                </a:extLst>
              </a:tr>
              <a:tr h="618697">
                <a:tc>
                  <a:txBody>
                    <a:bodyPr/>
                    <a:lstStyle/>
                    <a:p>
                      <a:pPr algn="ctr" fontAlgn="ctr"/>
                      <a:r>
                        <a:rPr lang="en-US" sz="1400" u="none" strike="noStrike" dirty="0">
                          <a:effectLst/>
                        </a:rPr>
                        <a:t>1</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Revise PCR Procedure : </a:t>
                      </a:r>
                      <a:br>
                        <a:rPr lang="en-US" sz="1400" u="none" strike="noStrike" dirty="0">
                          <a:effectLst/>
                        </a:rPr>
                      </a:br>
                      <a:r>
                        <a:rPr lang="en-US" sz="1200" u="none" strike="noStrike" dirty="0">
                          <a:effectLst/>
                        </a:rPr>
                        <a:t>Localization Sheet, KD Parts, External, &amp; Passthrough Parts</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dirty="0">
                          <a:effectLst/>
                        </a:rPr>
                        <a:t>PE</a:t>
                      </a:r>
                      <a:endParaRPr lang="en-US" sz="1200" b="0" i="0" u="none" strike="noStrike" dirty="0">
                        <a:solidFill>
                          <a:srgbClr val="000000"/>
                        </a:solidFill>
                        <a:effectLst/>
                        <a:latin typeface="Tahoma" panose="020B0604030504040204" pitchFamily="34" charset="0"/>
                      </a:endParaRPr>
                    </a:p>
                  </a:txBody>
                  <a:tcPr marL="0" marR="0" marT="0" marB="0" anchor="ct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113894084"/>
                  </a:ext>
                </a:extLst>
              </a:tr>
              <a:tr h="454915">
                <a:tc>
                  <a:txBody>
                    <a:bodyPr/>
                    <a:lstStyle/>
                    <a:p>
                      <a:pPr algn="ctr" fontAlgn="ctr"/>
                      <a:r>
                        <a:rPr lang="en-US" sz="1400" u="none" strike="noStrike">
                          <a:effectLst/>
                        </a:rPr>
                        <a:t>2</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PCR Procedure Finish :</a:t>
                      </a:r>
                      <a:br>
                        <a:rPr lang="en-US" sz="1400" u="none" strike="noStrike" dirty="0">
                          <a:effectLst/>
                        </a:rPr>
                      </a:br>
                      <a:r>
                        <a:rPr lang="en-US" sz="1200" u="none" strike="noStrike" dirty="0">
                          <a:effectLst/>
                        </a:rPr>
                        <a:t>Flow Process, PIC, Scope of Work &amp; Authority</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a:effectLst/>
                        </a:rPr>
                        <a:t>PE</a:t>
                      </a:r>
                      <a:endParaRPr lang="en-US" sz="1200" b="0" i="0" u="none" strike="noStrike">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607126408"/>
                  </a:ext>
                </a:extLst>
              </a:tr>
              <a:tr h="835884">
                <a:tc>
                  <a:txBody>
                    <a:bodyPr/>
                    <a:lstStyle/>
                    <a:p>
                      <a:pPr algn="ctr" fontAlgn="ctr"/>
                      <a:r>
                        <a:rPr lang="en-US" sz="1400" u="none" strike="noStrike">
                          <a:effectLst/>
                        </a:rPr>
                        <a:t>3</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Sharing Knowledge &amp; Training ( Customer BP ): </a:t>
                      </a:r>
                      <a:br>
                        <a:rPr lang="en-US" sz="1400" u="none" strike="noStrike" dirty="0">
                          <a:effectLst/>
                        </a:rPr>
                      </a:br>
                      <a:r>
                        <a:rPr lang="en-US" sz="1100" u="none" strike="noStrike" dirty="0">
                          <a:effectLst/>
                        </a:rPr>
                        <a:t>Flow , Communication, Customer PIC :</a:t>
                      </a:r>
                      <a:br>
                        <a:rPr lang="en-US" sz="1100" u="none" strike="noStrike" dirty="0">
                          <a:effectLst/>
                        </a:rPr>
                      </a:br>
                      <a:r>
                        <a:rPr lang="en-US" sz="1100" u="none" strike="noStrike" dirty="0">
                          <a:effectLst/>
                        </a:rPr>
                        <a:t>2W : AHM, YIMM, SIM, KMI</a:t>
                      </a:r>
                      <a:br>
                        <a:rPr lang="en-US" sz="1100" u="none" strike="noStrike" dirty="0">
                          <a:effectLst/>
                        </a:rPr>
                      </a:br>
                      <a:r>
                        <a:rPr lang="en-US" sz="1100" u="none" strike="noStrike" dirty="0">
                          <a:effectLst/>
                        </a:rPr>
                        <a:t>4W : ADM, HPM, SIM, TAM</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dirty="0">
                          <a:effectLst/>
                        </a:rPr>
                        <a:t>Sales OE</a:t>
                      </a:r>
                      <a:endParaRPr lang="en-US" sz="12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marL="228600" indent="-228600" algn="ctr" fontAlgn="b">
                        <a:buAutoNum type="arabicParenR"/>
                      </a:pPr>
                      <a:r>
                        <a:rPr lang="en-US" sz="900" u="none" strike="noStrike" dirty="0">
                          <a:effectLst/>
                        </a:rPr>
                        <a:t>Introduction </a:t>
                      </a:r>
                    </a:p>
                    <a:p>
                      <a:pPr marL="228600" indent="-228600" algn="ctr" fontAlgn="b">
                        <a:buAutoNum type="arabicParenR"/>
                      </a:pPr>
                      <a:r>
                        <a:rPr lang="en-US" sz="900" u="none" strike="noStrike" dirty="0">
                          <a:effectLst/>
                        </a:rPr>
                        <a:t>Sharing knowledge </a:t>
                      </a:r>
                    </a:p>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2968187130"/>
                  </a:ext>
                </a:extLst>
              </a:tr>
              <a:tr h="538224">
                <a:tc>
                  <a:txBody>
                    <a:bodyPr/>
                    <a:lstStyle/>
                    <a:p>
                      <a:pPr algn="ctr" fontAlgn="ctr"/>
                      <a:r>
                        <a:rPr lang="en-US" sz="1400" u="none" strike="noStrike">
                          <a:effectLst/>
                        </a:rPr>
                        <a:t>4</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Training Passthrough Part :</a:t>
                      </a:r>
                      <a:br>
                        <a:rPr lang="en-US" sz="1400" u="none" strike="noStrike" dirty="0">
                          <a:effectLst/>
                        </a:rPr>
                      </a:br>
                      <a:r>
                        <a:rPr lang="en-US" sz="1200" u="none" strike="noStrike" dirty="0">
                          <a:effectLst/>
                        </a:rPr>
                        <a:t>Spark Plug, Sensor Oxygen, Sensor LAF, Sensor Knock</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a:effectLst/>
                        </a:rPr>
                        <a:t>PE</a:t>
                      </a:r>
                      <a:endParaRPr lang="en-US" sz="1200" b="0" i="0" u="none" strike="noStrike">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b="0" i="0" u="none" strike="noStrike" dirty="0">
                          <a:solidFill>
                            <a:srgbClr val="000000"/>
                          </a:solidFill>
                          <a:effectLst/>
                          <a:latin typeface="Tahoma" panose="020B0604030504040204" pitchFamily="34" charset="0"/>
                        </a:rPr>
                        <a:t>Refer to Training Schedule</a:t>
                      </a:r>
                    </a:p>
                  </a:txBody>
                  <a:tcPr marL="0" marR="0" marT="0" marB="0" anchor="b"/>
                </a:tc>
                <a:extLst>
                  <a:ext uri="{0D108BD9-81ED-4DB2-BD59-A6C34878D82A}">
                    <a16:rowId xmlns:a16="http://schemas.microsoft.com/office/drawing/2014/main" val="387706697"/>
                  </a:ext>
                </a:extLst>
              </a:tr>
              <a:tr h="569884">
                <a:tc>
                  <a:txBody>
                    <a:bodyPr/>
                    <a:lstStyle/>
                    <a:p>
                      <a:pPr algn="ctr" fontAlgn="ctr"/>
                      <a:r>
                        <a:rPr lang="en-US" sz="1400" u="none" strike="noStrike">
                          <a:effectLst/>
                        </a:rPr>
                        <a:t>5</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Hand Over Transition Phase</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dirty="0">
                          <a:effectLst/>
                        </a:rPr>
                        <a:t>Sales OE</a:t>
                      </a:r>
                      <a:endParaRPr lang="en-US" sz="12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622315007"/>
                  </a:ext>
                </a:extLst>
              </a:tr>
              <a:tr h="284942">
                <a:tc>
                  <a:txBody>
                    <a:bodyPr/>
                    <a:lstStyle/>
                    <a:p>
                      <a:pPr algn="ctr" fontAlgn="ctr"/>
                      <a:r>
                        <a:rPr lang="en-US" sz="1400" u="none" strike="noStrike">
                          <a:effectLst/>
                        </a:rPr>
                        <a:t>6</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PE fully lead PCR</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a:effectLst/>
                        </a:rPr>
                        <a:t>PE</a:t>
                      </a:r>
                      <a:endParaRPr lang="en-US" sz="1200" b="0" i="0" u="none" strike="noStrike">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l"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2391630512"/>
                  </a:ext>
                </a:extLst>
              </a:tr>
              <a:tr h="548987">
                <a:tc>
                  <a:txBody>
                    <a:bodyPr/>
                    <a:lstStyle/>
                    <a:p>
                      <a:pPr algn="ctr" fontAlgn="ctr"/>
                      <a:r>
                        <a:rPr lang="en-US" sz="1400" u="none" strike="noStrike">
                          <a:effectLst/>
                        </a:rPr>
                        <a:t>7</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PCR Control Improvement ( Spreadsheet to Portal application )</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a:effectLst/>
                        </a:rPr>
                        <a:t>PE</a:t>
                      </a:r>
                      <a:endParaRPr lang="en-US" sz="1200" b="0" i="0" u="none" strike="noStrike">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l"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l"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solidFill>
                      <a:schemeClr val="accent6">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Refer to IT Project </a:t>
                      </a:r>
                      <a:endParaRPr lang="en-US" sz="900" b="0" i="0" u="none" strike="noStrike" dirty="0">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1181931129"/>
                  </a:ext>
                </a:extLst>
              </a:tr>
              <a:tr h="511662">
                <a:tc>
                  <a:txBody>
                    <a:bodyPr/>
                    <a:lstStyle/>
                    <a:p>
                      <a:pPr algn="ctr" fontAlgn="ctr"/>
                      <a:r>
                        <a:rPr lang="en-US" sz="1400" u="none" strike="noStrike">
                          <a:effectLst/>
                        </a:rPr>
                        <a:t>8</a:t>
                      </a:r>
                      <a:endParaRPr lang="en-US" sz="1400" b="0" i="0" u="none" strike="noStrike">
                        <a:solidFill>
                          <a:srgbClr val="000000"/>
                        </a:solidFill>
                        <a:effectLst/>
                        <a:latin typeface="Tahoma" panose="020B0604030504040204" pitchFamily="34" charset="0"/>
                      </a:endParaRPr>
                    </a:p>
                  </a:txBody>
                  <a:tcPr marL="0" marR="0" marT="0" marB="0" anchor="ctr"/>
                </a:tc>
                <a:tc>
                  <a:txBody>
                    <a:bodyPr/>
                    <a:lstStyle/>
                    <a:p>
                      <a:pPr algn="l" fontAlgn="ctr"/>
                      <a:r>
                        <a:rPr lang="en-US" sz="1400" u="none" strike="noStrike" dirty="0">
                          <a:effectLst/>
                        </a:rPr>
                        <a:t>PCR Output to Material ( BOM Master Application )</a:t>
                      </a:r>
                      <a:endParaRPr lang="en-US" sz="14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ctr"/>
                      <a:r>
                        <a:rPr lang="en-US" sz="1200" u="none" strike="noStrike" dirty="0">
                          <a:effectLst/>
                        </a:rPr>
                        <a:t>PE</a:t>
                      </a:r>
                      <a:endParaRPr lang="en-US" sz="1200" b="0" i="0" u="none" strike="noStrike" dirty="0">
                        <a:solidFill>
                          <a:srgbClr val="000000"/>
                        </a:solidFill>
                        <a:effectLst/>
                        <a:latin typeface="Tahoma" panose="020B0604030504040204" pitchFamily="34" charset="0"/>
                      </a:endParaRPr>
                    </a:p>
                  </a:txBody>
                  <a:tcPr marL="0" marR="0" marT="0" marB="0" anchor="ct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1">
                        <a:lumMod val="20000"/>
                        <a:lumOff val="80000"/>
                      </a:schemeClr>
                    </a:solidFill>
                  </a:tcPr>
                </a:tc>
                <a:tc>
                  <a:txBody>
                    <a:bodyPr/>
                    <a:lstStyle/>
                    <a:p>
                      <a:pPr algn="ctr" fontAlgn="b"/>
                      <a:r>
                        <a:rPr lang="en-US" sz="900" u="none" strike="noStrike">
                          <a:effectLst/>
                        </a:rPr>
                        <a:t> </a:t>
                      </a:r>
                      <a:endParaRPr lang="en-US" sz="900" b="0" i="0" u="none" strike="noStrike">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a:t>
                      </a:r>
                      <a:endParaRPr lang="en-US" sz="900" b="0" i="0" u="none" strike="noStrike" dirty="0">
                        <a:solidFill>
                          <a:srgbClr val="000000"/>
                        </a:solidFill>
                        <a:effectLst/>
                        <a:latin typeface="Tahoma" panose="020B0604030504040204" pitchFamily="34" charset="0"/>
                      </a:endParaRPr>
                    </a:p>
                  </a:txBody>
                  <a:tcPr marL="0" marR="0" marT="0" marB="0" anchor="b">
                    <a:solidFill>
                      <a:schemeClr val="accent6">
                        <a:lumMod val="20000"/>
                        <a:lumOff val="80000"/>
                      </a:schemeClr>
                    </a:solidFill>
                  </a:tcPr>
                </a:tc>
                <a:tc>
                  <a:txBody>
                    <a:bodyPr/>
                    <a:lstStyle/>
                    <a:p>
                      <a:pPr algn="ctr" fontAlgn="b"/>
                      <a:r>
                        <a:rPr lang="en-US" sz="900" u="none" strike="noStrike" dirty="0">
                          <a:effectLst/>
                        </a:rPr>
                        <a:t> Refer to IT Project</a:t>
                      </a:r>
                      <a:endParaRPr lang="en-US" sz="900" b="0" i="0" u="none" strike="noStrike" dirty="0">
                        <a:solidFill>
                          <a:srgbClr val="000000"/>
                        </a:solidFill>
                        <a:effectLst/>
                        <a:latin typeface="Tahoma" panose="020B0604030504040204" pitchFamily="34" charset="0"/>
                      </a:endParaRPr>
                    </a:p>
                  </a:txBody>
                  <a:tcPr marL="0" marR="0" marT="0" marB="0" anchor="b"/>
                </a:tc>
                <a:extLst>
                  <a:ext uri="{0D108BD9-81ED-4DB2-BD59-A6C34878D82A}">
                    <a16:rowId xmlns:a16="http://schemas.microsoft.com/office/drawing/2014/main" val="58088325"/>
                  </a:ext>
                </a:extLst>
              </a:tr>
            </a:tbl>
          </a:graphicData>
        </a:graphic>
      </p:graphicFrame>
      <p:sp>
        <p:nvSpPr>
          <p:cNvPr id="14" name="Arrow: Right 13">
            <a:extLst>
              <a:ext uri="{FF2B5EF4-FFF2-40B4-BE49-F238E27FC236}">
                <a16:creationId xmlns:a16="http://schemas.microsoft.com/office/drawing/2014/main" id="{A788B530-B13A-1973-CCD4-AF59AEA70F37}"/>
              </a:ext>
            </a:extLst>
          </p:cNvPr>
          <p:cNvSpPr/>
          <p:nvPr/>
        </p:nvSpPr>
        <p:spPr>
          <a:xfrm>
            <a:off x="5687217" y="1867377"/>
            <a:ext cx="954883" cy="274320"/>
          </a:xfrm>
          <a:prstGeom prst="rightArrow">
            <a:avLst>
              <a:gd name="adj1" fmla="val 50000"/>
              <a:gd name="adj2" fmla="val 9295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3" name="Star: 5 Points 22">
            <a:extLst>
              <a:ext uri="{FF2B5EF4-FFF2-40B4-BE49-F238E27FC236}">
                <a16:creationId xmlns:a16="http://schemas.microsoft.com/office/drawing/2014/main" id="{96DF1019-5F58-49A2-8E58-F2F7F0BA537F}"/>
              </a:ext>
            </a:extLst>
          </p:cNvPr>
          <p:cNvSpPr/>
          <p:nvPr/>
        </p:nvSpPr>
        <p:spPr>
          <a:xfrm>
            <a:off x="6689090" y="4578725"/>
            <a:ext cx="357505" cy="330200"/>
          </a:xfrm>
          <a:prstGeom prst="star5">
            <a:avLst/>
          </a:prstGeom>
          <a:solidFill>
            <a:srgbClr val="FFFF00"/>
          </a:solidFill>
          <a:ln w="3175">
            <a:solidFill>
              <a:sysClr val="windowText" lastClr="00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4" name="Arrow: Right 23">
            <a:extLst>
              <a:ext uri="{FF2B5EF4-FFF2-40B4-BE49-F238E27FC236}">
                <a16:creationId xmlns:a16="http://schemas.microsoft.com/office/drawing/2014/main" id="{1ADF2136-FDFA-F718-84ED-D128E4D24A6A}"/>
              </a:ext>
            </a:extLst>
          </p:cNvPr>
          <p:cNvSpPr/>
          <p:nvPr/>
        </p:nvSpPr>
        <p:spPr>
          <a:xfrm>
            <a:off x="6357934" y="2379663"/>
            <a:ext cx="640080"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5" name="Arrow: Right 24">
            <a:extLst>
              <a:ext uri="{FF2B5EF4-FFF2-40B4-BE49-F238E27FC236}">
                <a16:creationId xmlns:a16="http://schemas.microsoft.com/office/drawing/2014/main" id="{2C647086-A647-D783-EFF1-210BABA84804}"/>
              </a:ext>
            </a:extLst>
          </p:cNvPr>
          <p:cNvSpPr/>
          <p:nvPr/>
        </p:nvSpPr>
        <p:spPr>
          <a:xfrm>
            <a:off x="6357934" y="2997359"/>
            <a:ext cx="640080"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6" name="Arrow: Right 25">
            <a:extLst>
              <a:ext uri="{FF2B5EF4-FFF2-40B4-BE49-F238E27FC236}">
                <a16:creationId xmlns:a16="http://schemas.microsoft.com/office/drawing/2014/main" id="{D65F6FD3-3ED3-5401-5D46-786513EFFED7}"/>
              </a:ext>
            </a:extLst>
          </p:cNvPr>
          <p:cNvSpPr/>
          <p:nvPr/>
        </p:nvSpPr>
        <p:spPr>
          <a:xfrm>
            <a:off x="8153960" y="3710569"/>
            <a:ext cx="377197"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7" name="Arrow: Right 26">
            <a:extLst>
              <a:ext uri="{FF2B5EF4-FFF2-40B4-BE49-F238E27FC236}">
                <a16:creationId xmlns:a16="http://schemas.microsoft.com/office/drawing/2014/main" id="{BBE9A76C-0EBD-EA48-4E78-DB62082FDC6B}"/>
              </a:ext>
            </a:extLst>
          </p:cNvPr>
          <p:cNvSpPr/>
          <p:nvPr/>
        </p:nvSpPr>
        <p:spPr>
          <a:xfrm>
            <a:off x="6322060" y="4200096"/>
            <a:ext cx="640080"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8" name="Arrow: Right 27">
            <a:extLst>
              <a:ext uri="{FF2B5EF4-FFF2-40B4-BE49-F238E27FC236}">
                <a16:creationId xmlns:a16="http://schemas.microsoft.com/office/drawing/2014/main" id="{A62B9787-2917-8215-092D-370CC7A8E631}"/>
              </a:ext>
            </a:extLst>
          </p:cNvPr>
          <p:cNvSpPr/>
          <p:nvPr/>
        </p:nvSpPr>
        <p:spPr>
          <a:xfrm>
            <a:off x="7161530" y="5068729"/>
            <a:ext cx="914400"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29" name="Arrow: Right 28">
            <a:extLst>
              <a:ext uri="{FF2B5EF4-FFF2-40B4-BE49-F238E27FC236}">
                <a16:creationId xmlns:a16="http://schemas.microsoft.com/office/drawing/2014/main" id="{5DB66743-9A68-CAF5-755A-9AE3B9CF4CAF}"/>
              </a:ext>
            </a:extLst>
          </p:cNvPr>
          <p:cNvSpPr/>
          <p:nvPr/>
        </p:nvSpPr>
        <p:spPr>
          <a:xfrm>
            <a:off x="8113077" y="5600541"/>
            <a:ext cx="914400" cy="274320"/>
          </a:xfrm>
          <a:prstGeom prst="rightArrow">
            <a:avLst>
              <a:gd name="adj1" fmla="val 50000"/>
              <a:gd name="adj2" fmla="val 68462"/>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30" name="TextBox 29">
            <a:extLst>
              <a:ext uri="{FF2B5EF4-FFF2-40B4-BE49-F238E27FC236}">
                <a16:creationId xmlns:a16="http://schemas.microsoft.com/office/drawing/2014/main" id="{647D7716-1410-484D-C058-F2FE05F5107A}"/>
              </a:ext>
            </a:extLst>
          </p:cNvPr>
          <p:cNvSpPr txBox="1"/>
          <p:nvPr/>
        </p:nvSpPr>
        <p:spPr>
          <a:xfrm>
            <a:off x="121920" y="101600"/>
            <a:ext cx="7340764" cy="523220"/>
          </a:xfrm>
          <a:prstGeom prst="rect">
            <a:avLst/>
          </a:prstGeom>
          <a:noFill/>
        </p:spPr>
        <p:txBody>
          <a:bodyPr wrap="square" rtlCol="0">
            <a:spAutoFit/>
          </a:bodyPr>
          <a:lstStyle/>
          <a:p>
            <a:r>
              <a:rPr lang="en-US" sz="2800" b="1" dirty="0">
                <a:solidFill>
                  <a:srgbClr val="0070C0"/>
                </a:solidFill>
              </a:rPr>
              <a:t>4.Timeline</a:t>
            </a:r>
          </a:p>
        </p:txBody>
      </p:sp>
      <p:sp>
        <p:nvSpPr>
          <p:cNvPr id="33" name="TextBox 32">
            <a:extLst>
              <a:ext uri="{FF2B5EF4-FFF2-40B4-BE49-F238E27FC236}">
                <a16:creationId xmlns:a16="http://schemas.microsoft.com/office/drawing/2014/main" id="{A85CFBEC-DC27-0A29-ECED-5A523A52704B}"/>
              </a:ext>
            </a:extLst>
          </p:cNvPr>
          <p:cNvSpPr txBox="1"/>
          <p:nvPr/>
        </p:nvSpPr>
        <p:spPr>
          <a:xfrm>
            <a:off x="9622971" y="6566253"/>
            <a:ext cx="2569029" cy="276999"/>
          </a:xfrm>
          <a:prstGeom prst="rect">
            <a:avLst/>
          </a:prstGeom>
          <a:solidFill>
            <a:schemeClr val="bg1"/>
          </a:solidFill>
        </p:spPr>
        <p:txBody>
          <a:bodyPr wrap="square">
            <a:spAutoFit/>
          </a:bodyPr>
          <a:lstStyle/>
          <a:p>
            <a:pPr algn="r"/>
            <a:r>
              <a:rPr lang="en-US" sz="1200" i="1" dirty="0"/>
              <a:t>Rome was not built in a day</a:t>
            </a:r>
          </a:p>
        </p:txBody>
      </p:sp>
    </p:spTree>
    <p:extLst>
      <p:ext uri="{BB962C8B-B14F-4D97-AF65-F5344CB8AC3E}">
        <p14:creationId xmlns:p14="http://schemas.microsoft.com/office/powerpoint/2010/main" val="196293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DAE570-01DE-14F0-A81E-FC0EA63CE778}"/>
              </a:ext>
            </a:extLst>
          </p:cNvPr>
          <p:cNvSpPr txBox="1"/>
          <p:nvPr/>
        </p:nvSpPr>
        <p:spPr>
          <a:xfrm>
            <a:off x="121920" y="101600"/>
            <a:ext cx="7340764" cy="523220"/>
          </a:xfrm>
          <a:prstGeom prst="rect">
            <a:avLst/>
          </a:prstGeom>
          <a:noFill/>
        </p:spPr>
        <p:txBody>
          <a:bodyPr wrap="square" rtlCol="0">
            <a:spAutoFit/>
          </a:bodyPr>
          <a:lstStyle/>
          <a:p>
            <a:r>
              <a:rPr lang="en-US" sz="2800" b="1" dirty="0">
                <a:solidFill>
                  <a:srgbClr val="0070C0"/>
                </a:solidFill>
              </a:rPr>
              <a:t>5. Important Concerns</a:t>
            </a:r>
          </a:p>
        </p:txBody>
      </p:sp>
      <p:graphicFrame>
        <p:nvGraphicFramePr>
          <p:cNvPr id="4" name="Table 3">
            <a:extLst>
              <a:ext uri="{FF2B5EF4-FFF2-40B4-BE49-F238E27FC236}">
                <a16:creationId xmlns:a16="http://schemas.microsoft.com/office/drawing/2014/main" id="{DE6F106A-95EF-7571-6210-BF377C5DE1DA}"/>
              </a:ext>
            </a:extLst>
          </p:cNvPr>
          <p:cNvGraphicFramePr>
            <a:graphicFrameLocks noGrp="1"/>
          </p:cNvGraphicFramePr>
          <p:nvPr>
            <p:extLst>
              <p:ext uri="{D42A27DB-BD31-4B8C-83A1-F6EECF244321}">
                <p14:modId xmlns:p14="http://schemas.microsoft.com/office/powerpoint/2010/main" val="17901974"/>
              </p:ext>
            </p:extLst>
          </p:nvPr>
        </p:nvGraphicFramePr>
        <p:xfrm>
          <a:off x="121919" y="881898"/>
          <a:ext cx="11868520" cy="5790564"/>
        </p:xfrm>
        <a:graphic>
          <a:graphicData uri="http://schemas.openxmlformats.org/drawingml/2006/table">
            <a:tbl>
              <a:tblPr firstRow="1" bandRow="1">
                <a:tableStyleId>{5C22544A-7EE6-4342-B048-85BDC9FD1C3A}</a:tableStyleId>
              </a:tblPr>
              <a:tblGrid>
                <a:gridCol w="737033">
                  <a:extLst>
                    <a:ext uri="{9D8B030D-6E8A-4147-A177-3AD203B41FA5}">
                      <a16:colId xmlns:a16="http://schemas.microsoft.com/office/drawing/2014/main" val="3037592398"/>
                    </a:ext>
                  </a:extLst>
                </a:gridCol>
                <a:gridCol w="8314545">
                  <a:extLst>
                    <a:ext uri="{9D8B030D-6E8A-4147-A177-3AD203B41FA5}">
                      <a16:colId xmlns:a16="http://schemas.microsoft.com/office/drawing/2014/main" val="2284877414"/>
                    </a:ext>
                  </a:extLst>
                </a:gridCol>
                <a:gridCol w="2816942">
                  <a:extLst>
                    <a:ext uri="{9D8B030D-6E8A-4147-A177-3AD203B41FA5}">
                      <a16:colId xmlns:a16="http://schemas.microsoft.com/office/drawing/2014/main" val="1228132770"/>
                    </a:ext>
                  </a:extLst>
                </a:gridCol>
              </a:tblGrid>
              <a:tr h="269503">
                <a:tc>
                  <a:txBody>
                    <a:bodyPr/>
                    <a:lstStyle/>
                    <a:p>
                      <a:r>
                        <a:rPr lang="en-US" dirty="0"/>
                        <a:t>No</a:t>
                      </a:r>
                    </a:p>
                  </a:txBody>
                  <a:tcPr/>
                </a:tc>
                <a:tc>
                  <a:txBody>
                    <a:bodyPr/>
                    <a:lstStyle/>
                    <a:p>
                      <a:r>
                        <a:rPr lang="en-US" dirty="0"/>
                        <a:t>Concern/Important Item</a:t>
                      </a:r>
                    </a:p>
                  </a:txBody>
                  <a:tcPr/>
                </a:tc>
                <a:tc>
                  <a:txBody>
                    <a:bodyPr/>
                    <a:lstStyle/>
                    <a:p>
                      <a:r>
                        <a:rPr lang="en-US" dirty="0"/>
                        <a:t>Remark</a:t>
                      </a:r>
                    </a:p>
                  </a:txBody>
                  <a:tcPr/>
                </a:tc>
                <a:extLst>
                  <a:ext uri="{0D108BD9-81ED-4DB2-BD59-A6C34878D82A}">
                    <a16:rowId xmlns:a16="http://schemas.microsoft.com/office/drawing/2014/main" val="981025411"/>
                  </a:ext>
                </a:extLst>
              </a:tr>
              <a:tr h="510381">
                <a:tc>
                  <a:txBody>
                    <a:bodyPr/>
                    <a:lstStyle/>
                    <a:p>
                      <a:r>
                        <a:rPr lang="en-US" dirty="0"/>
                        <a:t>1</a:t>
                      </a:r>
                    </a:p>
                  </a:txBody>
                  <a:tcPr/>
                </a:tc>
                <a:tc>
                  <a:txBody>
                    <a:bodyPr/>
                    <a:lstStyle/>
                    <a:p>
                      <a:r>
                        <a:rPr lang="en-US" dirty="0"/>
                        <a:t>Sales OE will join when PCR meeting with Customer, PE only explain for technical meeting not for business required</a:t>
                      </a:r>
                    </a:p>
                  </a:txBody>
                  <a:tcPr/>
                </a:tc>
                <a:tc>
                  <a:txBody>
                    <a:bodyPr/>
                    <a:lstStyle/>
                    <a:p>
                      <a:r>
                        <a:rPr lang="en-US" dirty="0"/>
                        <a:t>-</a:t>
                      </a:r>
                    </a:p>
                  </a:txBody>
                  <a:tcPr/>
                </a:tc>
                <a:extLst>
                  <a:ext uri="{0D108BD9-81ED-4DB2-BD59-A6C34878D82A}">
                    <a16:rowId xmlns:a16="http://schemas.microsoft.com/office/drawing/2014/main" val="3546351740"/>
                  </a:ext>
                </a:extLst>
              </a:tr>
              <a:tr h="510381">
                <a:tc>
                  <a:txBody>
                    <a:bodyPr/>
                    <a:lstStyle/>
                    <a:p>
                      <a:r>
                        <a:rPr lang="en-US" dirty="0"/>
                        <a:t>2</a:t>
                      </a:r>
                    </a:p>
                  </a:txBody>
                  <a:tcPr/>
                </a:tc>
                <a:tc>
                  <a:txBody>
                    <a:bodyPr/>
                    <a:lstStyle/>
                    <a:p>
                      <a:r>
                        <a:rPr lang="en-US" dirty="0"/>
                        <a:t>Due to PCR have limited time, we need to prevent the PCR delay</a:t>
                      </a:r>
                    </a:p>
                  </a:txBody>
                  <a:tcPr/>
                </a:tc>
                <a:tc>
                  <a:txBody>
                    <a:bodyPr/>
                    <a:lstStyle/>
                    <a:p>
                      <a:r>
                        <a:rPr lang="en-US" dirty="0"/>
                        <a:t>PCR Panel Review</a:t>
                      </a:r>
                    </a:p>
                  </a:txBody>
                  <a:tcPr/>
                </a:tc>
                <a:extLst>
                  <a:ext uri="{0D108BD9-81ED-4DB2-BD59-A6C34878D82A}">
                    <a16:rowId xmlns:a16="http://schemas.microsoft.com/office/drawing/2014/main" val="3307812742"/>
                  </a:ext>
                </a:extLst>
              </a:tr>
              <a:tr h="510381">
                <a:tc>
                  <a:txBody>
                    <a:bodyPr/>
                    <a:lstStyle/>
                    <a:p>
                      <a:r>
                        <a:rPr lang="en-US" dirty="0"/>
                        <a:t>3</a:t>
                      </a:r>
                    </a:p>
                  </a:txBody>
                  <a:tcPr/>
                </a:tc>
                <a:tc>
                  <a:txBody>
                    <a:bodyPr/>
                    <a:lstStyle/>
                    <a:p>
                      <a:r>
                        <a:rPr lang="en-US" dirty="0"/>
                        <a:t>How to utilize the working ratio in Sales OE when PCR transfer to PE?</a:t>
                      </a:r>
                    </a:p>
                  </a:txBody>
                  <a:tcPr/>
                </a:tc>
                <a:tc>
                  <a:txBody>
                    <a:bodyPr/>
                    <a:lstStyle/>
                    <a:p>
                      <a:r>
                        <a:rPr lang="en-US" dirty="0"/>
                        <a:t>-</a:t>
                      </a:r>
                    </a:p>
                  </a:txBody>
                  <a:tcPr/>
                </a:tc>
                <a:extLst>
                  <a:ext uri="{0D108BD9-81ED-4DB2-BD59-A6C34878D82A}">
                    <a16:rowId xmlns:a16="http://schemas.microsoft.com/office/drawing/2014/main" val="1238887233"/>
                  </a:ext>
                </a:extLst>
              </a:tr>
              <a:tr h="835458">
                <a:tc>
                  <a:txBody>
                    <a:bodyPr/>
                    <a:lstStyle/>
                    <a:p>
                      <a:r>
                        <a:rPr lang="en-US" dirty="0"/>
                        <a:t>4</a:t>
                      </a:r>
                    </a:p>
                  </a:txBody>
                  <a:tcPr/>
                </a:tc>
                <a:tc>
                  <a:txBody>
                    <a:bodyPr/>
                    <a:lstStyle/>
                    <a:p>
                      <a:r>
                        <a:rPr lang="en-US" dirty="0"/>
                        <a:t>Current PCR Obstacles</a:t>
                      </a:r>
                    </a:p>
                    <a:p>
                      <a:pPr marL="342900" indent="-342900">
                        <a:buAutoNum type="alphaLcParenR"/>
                      </a:pPr>
                      <a:r>
                        <a:rPr lang="en-US" dirty="0"/>
                        <a:t>Some Overseas (</a:t>
                      </a:r>
                      <a:r>
                        <a:rPr lang="en-US" dirty="0" err="1"/>
                        <a:t>e.g</a:t>
                      </a:r>
                      <a:r>
                        <a:rPr lang="en-US" dirty="0"/>
                        <a:t> </a:t>
                      </a:r>
                      <a:r>
                        <a:rPr lang="en-US" dirty="0" err="1"/>
                        <a:t>Niterra</a:t>
                      </a:r>
                      <a:r>
                        <a:rPr lang="en-US" dirty="0"/>
                        <a:t> North America) : too slow </a:t>
                      </a:r>
                      <a:r>
                        <a:rPr lang="en-US" dirty="0" err="1"/>
                        <a:t>respon</a:t>
                      </a:r>
                      <a:endParaRPr lang="en-US" dirty="0"/>
                    </a:p>
                    <a:p>
                      <a:pPr marL="342900" indent="-342900">
                        <a:buAutoNum type="alphaLcParenR"/>
                      </a:pPr>
                      <a:r>
                        <a:rPr lang="en-US" dirty="0" err="1"/>
                        <a:t>Niterra</a:t>
                      </a:r>
                      <a:r>
                        <a:rPr lang="en-US" dirty="0"/>
                        <a:t> Japan : Take Time required documents &amp; lack of PCR information/materials</a:t>
                      </a:r>
                    </a:p>
                    <a:p>
                      <a:pPr marL="342900" indent="-342900">
                        <a:buAutoNum type="alphaLcParenR"/>
                      </a:pPr>
                      <a:r>
                        <a:rPr lang="en-US" dirty="0" err="1"/>
                        <a:t>Niterra</a:t>
                      </a:r>
                      <a:r>
                        <a:rPr lang="en-US" dirty="0"/>
                        <a:t> Indonesia : Lack of monitoring</a:t>
                      </a:r>
                    </a:p>
                  </a:txBody>
                  <a:tcPr/>
                </a:tc>
                <a:tc>
                  <a:txBody>
                    <a:bodyPr/>
                    <a:lstStyle/>
                    <a:p>
                      <a:r>
                        <a:rPr lang="en-US" dirty="0"/>
                        <a:t>PCR Panel Review</a:t>
                      </a:r>
                    </a:p>
                  </a:txBody>
                  <a:tcPr/>
                </a:tc>
                <a:extLst>
                  <a:ext uri="{0D108BD9-81ED-4DB2-BD59-A6C34878D82A}">
                    <a16:rowId xmlns:a16="http://schemas.microsoft.com/office/drawing/2014/main" val="3647689837"/>
                  </a:ext>
                </a:extLst>
              </a:tr>
              <a:tr h="510381">
                <a:tc>
                  <a:txBody>
                    <a:bodyPr/>
                    <a:lstStyle/>
                    <a:p>
                      <a:r>
                        <a:rPr lang="en-US" dirty="0"/>
                        <a:t>5</a:t>
                      </a:r>
                    </a:p>
                  </a:txBody>
                  <a:tcPr/>
                </a:tc>
                <a:tc>
                  <a:txBody>
                    <a:bodyPr/>
                    <a:lstStyle/>
                    <a:p>
                      <a:r>
                        <a:rPr lang="en-US" dirty="0"/>
                        <a:t>To monitoring PCR (Supplier/KD Parts → Internal/</a:t>
                      </a:r>
                      <a:r>
                        <a:rPr lang="en-US" dirty="0" err="1"/>
                        <a:t>Oversease</a:t>
                      </a:r>
                      <a:r>
                        <a:rPr lang="en-US" dirty="0"/>
                        <a:t> → PE → Customer) will use Monitoring Portal like Purchase Request (similar features)</a:t>
                      </a:r>
                    </a:p>
                  </a:txBody>
                  <a:tcPr/>
                </a:tc>
                <a:tc>
                  <a:txBody>
                    <a:bodyPr/>
                    <a:lstStyle/>
                    <a:p>
                      <a:r>
                        <a:rPr lang="en-US" dirty="0"/>
                        <a:t>October 2025</a:t>
                      </a:r>
                    </a:p>
                  </a:txBody>
                  <a:tcPr/>
                </a:tc>
                <a:extLst>
                  <a:ext uri="{0D108BD9-81ED-4DB2-BD59-A6C34878D82A}">
                    <a16:rowId xmlns:a16="http://schemas.microsoft.com/office/drawing/2014/main" val="2685682095"/>
                  </a:ext>
                </a:extLst>
              </a:tr>
              <a:tr h="835458">
                <a:tc>
                  <a:txBody>
                    <a:bodyPr/>
                    <a:lstStyle/>
                    <a:p>
                      <a:r>
                        <a:rPr lang="en-US" dirty="0"/>
                        <a:t>6</a:t>
                      </a:r>
                    </a:p>
                  </a:txBody>
                  <a:tcPr/>
                </a:tc>
                <a:tc>
                  <a:txBody>
                    <a:bodyPr/>
                    <a:lstStyle/>
                    <a:p>
                      <a:r>
                        <a:rPr lang="en-US" dirty="0"/>
                        <a:t>Transfer Business Process from Sales OE to PE need to revise :</a:t>
                      </a:r>
                    </a:p>
                    <a:p>
                      <a:pPr marL="342900" indent="-342900">
                        <a:buAutoNum type="alphaLcParenR"/>
                      </a:pPr>
                      <a:r>
                        <a:rPr lang="en-US" dirty="0"/>
                        <a:t>Business Process</a:t>
                      </a:r>
                    </a:p>
                    <a:p>
                      <a:pPr marL="342900" indent="-342900">
                        <a:buAutoNum type="alphaLcParenR"/>
                      </a:pPr>
                      <a:r>
                        <a:rPr lang="en-US" dirty="0"/>
                        <a:t>Procedure</a:t>
                      </a:r>
                    </a:p>
                    <a:p>
                      <a:pPr marL="342900" indent="-342900">
                        <a:buAutoNum type="alphaLcParenR"/>
                      </a:pPr>
                      <a:r>
                        <a:rPr lang="en-US" dirty="0"/>
                        <a:t>Working Instructions</a:t>
                      </a:r>
                    </a:p>
                  </a:txBody>
                  <a:tcPr/>
                </a:tc>
                <a:tc>
                  <a:txBody>
                    <a:bodyPr/>
                    <a:lstStyle/>
                    <a:p>
                      <a:r>
                        <a:rPr lang="en-US" dirty="0"/>
                        <a:t>July 2025</a:t>
                      </a:r>
                    </a:p>
                  </a:txBody>
                  <a:tcPr/>
                </a:tc>
                <a:extLst>
                  <a:ext uri="{0D108BD9-81ED-4DB2-BD59-A6C34878D82A}">
                    <a16:rowId xmlns:a16="http://schemas.microsoft.com/office/drawing/2014/main" val="2675684518"/>
                  </a:ext>
                </a:extLst>
              </a:tr>
              <a:tr h="510381">
                <a:tc>
                  <a:txBody>
                    <a:bodyPr/>
                    <a:lstStyle/>
                    <a:p>
                      <a:r>
                        <a:rPr lang="en-US" dirty="0"/>
                        <a:t>7</a:t>
                      </a:r>
                    </a:p>
                  </a:txBody>
                  <a:tcPr/>
                </a:tc>
                <a:tc>
                  <a:txBody>
                    <a:bodyPr/>
                    <a:lstStyle/>
                    <a:p>
                      <a:r>
                        <a:rPr lang="en-US" dirty="0"/>
                        <a:t>PCR Task Transfer transition in June-July and will lead by PE by July</a:t>
                      </a:r>
                    </a:p>
                  </a:txBody>
                  <a:tcPr/>
                </a:tc>
                <a:tc>
                  <a:txBody>
                    <a:bodyPr/>
                    <a:lstStyle/>
                    <a:p>
                      <a:r>
                        <a:rPr lang="en-US" dirty="0"/>
                        <a:t>Introduction to Customer, </a:t>
                      </a:r>
                      <a:r>
                        <a:rPr lang="en-US" dirty="0" err="1"/>
                        <a:t>etc</a:t>
                      </a:r>
                      <a:r>
                        <a:rPr lang="en-US" dirty="0"/>
                        <a:t> and start Lead by PE on July</a:t>
                      </a:r>
                    </a:p>
                  </a:txBody>
                  <a:tcPr/>
                </a:tc>
                <a:extLst>
                  <a:ext uri="{0D108BD9-81ED-4DB2-BD59-A6C34878D82A}">
                    <a16:rowId xmlns:a16="http://schemas.microsoft.com/office/drawing/2014/main" val="276530134"/>
                  </a:ext>
                </a:extLst>
              </a:tr>
              <a:tr h="510381">
                <a:tc>
                  <a:txBody>
                    <a:bodyPr/>
                    <a:lstStyle/>
                    <a:p>
                      <a:r>
                        <a:rPr lang="en-US" dirty="0"/>
                        <a:t>8</a:t>
                      </a:r>
                    </a:p>
                  </a:txBody>
                  <a:tcPr/>
                </a:tc>
                <a:tc>
                  <a:txBody>
                    <a:bodyPr/>
                    <a:lstStyle/>
                    <a:p>
                      <a:r>
                        <a:rPr lang="en-US" dirty="0"/>
                        <a:t>IE Workload Analysis (additional PCR transfer from Sales OEM to IE)</a:t>
                      </a:r>
                    </a:p>
                  </a:txBody>
                  <a:tcPr/>
                </a:tc>
                <a:tc>
                  <a:txBody>
                    <a:bodyPr/>
                    <a:lstStyle/>
                    <a:p>
                      <a:r>
                        <a:rPr lang="en-US" dirty="0"/>
                        <a:t>End of June 2025</a:t>
                      </a:r>
                    </a:p>
                  </a:txBody>
                  <a:tcPr/>
                </a:tc>
                <a:extLst>
                  <a:ext uri="{0D108BD9-81ED-4DB2-BD59-A6C34878D82A}">
                    <a16:rowId xmlns:a16="http://schemas.microsoft.com/office/drawing/2014/main" val="1527368192"/>
                  </a:ext>
                </a:extLst>
              </a:tr>
              <a:tr h="510381">
                <a:tc>
                  <a:txBody>
                    <a:bodyPr/>
                    <a:lstStyle/>
                    <a:p>
                      <a:r>
                        <a:rPr lang="en-US" dirty="0"/>
                        <a:t>9</a:t>
                      </a:r>
                    </a:p>
                  </a:txBody>
                  <a:tcPr/>
                </a:tc>
                <a:tc>
                  <a:txBody>
                    <a:bodyPr/>
                    <a:lstStyle/>
                    <a:p>
                      <a:r>
                        <a:rPr lang="en-US" dirty="0"/>
                        <a:t>Socialization new PCR Procedure to all related Dept</a:t>
                      </a:r>
                    </a:p>
                  </a:txBody>
                  <a:tcPr/>
                </a:tc>
                <a:tc>
                  <a:txBody>
                    <a:bodyPr/>
                    <a:lstStyle/>
                    <a:p>
                      <a:r>
                        <a:rPr lang="en-US" dirty="0"/>
                        <a:t>-</a:t>
                      </a:r>
                    </a:p>
                  </a:txBody>
                  <a:tcPr/>
                </a:tc>
                <a:extLst>
                  <a:ext uri="{0D108BD9-81ED-4DB2-BD59-A6C34878D82A}">
                    <a16:rowId xmlns:a16="http://schemas.microsoft.com/office/drawing/2014/main" val="1965952623"/>
                  </a:ext>
                </a:extLst>
              </a:tr>
            </a:tbl>
          </a:graphicData>
        </a:graphic>
      </p:graphicFrame>
    </p:spTree>
    <p:extLst>
      <p:ext uri="{BB962C8B-B14F-4D97-AF65-F5344CB8AC3E}">
        <p14:creationId xmlns:p14="http://schemas.microsoft.com/office/powerpoint/2010/main" val="211473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2F573A-DD46-26AB-893C-CFC229612611}"/>
              </a:ext>
            </a:extLst>
          </p:cNvPr>
          <p:cNvSpPr txBox="1"/>
          <p:nvPr/>
        </p:nvSpPr>
        <p:spPr>
          <a:xfrm>
            <a:off x="182332" y="5965883"/>
            <a:ext cx="3170468" cy="584775"/>
          </a:xfrm>
          <a:prstGeom prst="rect">
            <a:avLst/>
          </a:prstGeom>
          <a:noFill/>
        </p:spPr>
        <p:txBody>
          <a:bodyPr wrap="square" rtlCol="0">
            <a:spAutoFit/>
          </a:bodyPr>
          <a:lstStyle/>
          <a:p>
            <a:pPr algn="ctr"/>
            <a:r>
              <a:rPr lang="en-US" sz="3200" dirty="0"/>
              <a:t>Appendix</a:t>
            </a:r>
          </a:p>
        </p:txBody>
      </p:sp>
    </p:spTree>
    <p:extLst>
      <p:ext uri="{BB962C8B-B14F-4D97-AF65-F5344CB8AC3E}">
        <p14:creationId xmlns:p14="http://schemas.microsoft.com/office/powerpoint/2010/main" val="278745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86786B2B-85B4-6B63-D978-9B6ABD6C49A3}"/>
              </a:ext>
            </a:extLst>
          </p:cNvPr>
          <p:cNvGraphicFramePr>
            <a:graphicFrameLocks noChangeAspect="1"/>
          </p:cNvGraphicFramePr>
          <p:nvPr>
            <p:extLst>
              <p:ext uri="{D42A27DB-BD31-4B8C-83A1-F6EECF244321}">
                <p14:modId xmlns:p14="http://schemas.microsoft.com/office/powerpoint/2010/main" val="518965277"/>
              </p:ext>
            </p:extLst>
          </p:nvPr>
        </p:nvGraphicFramePr>
        <p:xfrm>
          <a:off x="121921" y="986838"/>
          <a:ext cx="5714676" cy="2153459"/>
        </p:xfrm>
        <a:graphic>
          <a:graphicData uri="http://schemas.openxmlformats.org/presentationml/2006/ole">
            <mc:AlternateContent xmlns:mc="http://schemas.openxmlformats.org/markup-compatibility/2006">
              <mc:Choice xmlns:v="urn:schemas-microsoft-com:vml" Requires="v">
                <p:oleObj name="Worksheet" r:id="rId3" imgW="5097674" imgH="1920098" progId="Excel.Sheet.12">
                  <p:embed/>
                </p:oleObj>
              </mc:Choice>
              <mc:Fallback>
                <p:oleObj name="Worksheet" r:id="rId3" imgW="5097674" imgH="1920098" progId="Excel.Sheet.12">
                  <p:embed/>
                  <p:pic>
                    <p:nvPicPr>
                      <p:cNvPr id="5" name="Object 4">
                        <a:extLst>
                          <a:ext uri="{FF2B5EF4-FFF2-40B4-BE49-F238E27FC236}">
                            <a16:creationId xmlns:a16="http://schemas.microsoft.com/office/drawing/2014/main" id="{2F5023BD-26BE-EAFF-4BEE-898F7F9D22BE}"/>
                          </a:ext>
                        </a:extLst>
                      </p:cNvPr>
                      <p:cNvPicPr/>
                      <p:nvPr/>
                    </p:nvPicPr>
                    <p:blipFill>
                      <a:blip r:embed="rId4"/>
                      <a:stretch>
                        <a:fillRect/>
                      </a:stretch>
                    </p:blipFill>
                    <p:spPr>
                      <a:xfrm>
                        <a:off x="121921" y="986838"/>
                        <a:ext cx="5714676" cy="2153459"/>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37E094D7-0B8D-9D8A-BDFC-C2D0FD4B872A}"/>
              </a:ext>
            </a:extLst>
          </p:cNvPr>
          <p:cNvSpPr txBox="1"/>
          <p:nvPr/>
        </p:nvSpPr>
        <p:spPr>
          <a:xfrm>
            <a:off x="121919" y="642151"/>
            <a:ext cx="1760706" cy="400110"/>
          </a:xfrm>
          <a:prstGeom prst="rect">
            <a:avLst/>
          </a:prstGeom>
          <a:noFill/>
        </p:spPr>
        <p:txBody>
          <a:bodyPr wrap="square" rtlCol="0">
            <a:spAutoFit/>
          </a:bodyPr>
          <a:lstStyle/>
          <a:p>
            <a:r>
              <a:rPr lang="en-US" sz="2000" dirty="0"/>
              <a:t>PCR Matrix</a:t>
            </a:r>
          </a:p>
        </p:txBody>
      </p:sp>
      <p:graphicFrame>
        <p:nvGraphicFramePr>
          <p:cNvPr id="4" name="Object 3">
            <a:extLst>
              <a:ext uri="{FF2B5EF4-FFF2-40B4-BE49-F238E27FC236}">
                <a16:creationId xmlns:a16="http://schemas.microsoft.com/office/drawing/2014/main" id="{14F4F9C8-C42D-3A2F-5E86-BE0F29706E19}"/>
              </a:ext>
            </a:extLst>
          </p:cNvPr>
          <p:cNvGraphicFramePr>
            <a:graphicFrameLocks noChangeAspect="1"/>
          </p:cNvGraphicFramePr>
          <p:nvPr>
            <p:extLst>
              <p:ext uri="{D42A27DB-BD31-4B8C-83A1-F6EECF244321}">
                <p14:modId xmlns:p14="http://schemas.microsoft.com/office/powerpoint/2010/main" val="2575539592"/>
              </p:ext>
            </p:extLst>
          </p:nvPr>
        </p:nvGraphicFramePr>
        <p:xfrm>
          <a:off x="92735" y="3605425"/>
          <a:ext cx="11473451" cy="2266096"/>
        </p:xfrm>
        <a:graphic>
          <a:graphicData uri="http://schemas.openxmlformats.org/presentationml/2006/ole">
            <mc:AlternateContent xmlns:mc="http://schemas.openxmlformats.org/markup-compatibility/2006">
              <mc:Choice xmlns:v="urn:schemas-microsoft-com:vml" Requires="v">
                <p:oleObj name="Worksheet" r:id="rId5" imgW="12222338" imgH="2407904" progId="Excel.Sheet.12">
                  <p:embed/>
                </p:oleObj>
              </mc:Choice>
              <mc:Fallback>
                <p:oleObj name="Worksheet" r:id="rId5" imgW="12222338" imgH="2407904" progId="Excel.Sheet.12">
                  <p:embed/>
                  <p:pic>
                    <p:nvPicPr>
                      <p:cNvPr id="7" name="Object 6">
                        <a:extLst>
                          <a:ext uri="{FF2B5EF4-FFF2-40B4-BE49-F238E27FC236}">
                            <a16:creationId xmlns:a16="http://schemas.microsoft.com/office/drawing/2014/main" id="{2823D36E-03DE-99EA-F14B-684CFBC2CC9C}"/>
                          </a:ext>
                        </a:extLst>
                      </p:cNvPr>
                      <p:cNvPicPr/>
                      <p:nvPr/>
                    </p:nvPicPr>
                    <p:blipFill>
                      <a:blip r:embed="rId6"/>
                      <a:stretch>
                        <a:fillRect/>
                      </a:stretch>
                    </p:blipFill>
                    <p:spPr>
                      <a:xfrm>
                        <a:off x="92735" y="3605425"/>
                        <a:ext cx="11473451" cy="2266096"/>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E92CB406-854F-58E4-F87D-ED0C1A662741}"/>
              </a:ext>
            </a:extLst>
          </p:cNvPr>
          <p:cNvSpPr txBox="1"/>
          <p:nvPr/>
        </p:nvSpPr>
        <p:spPr>
          <a:xfrm>
            <a:off x="0" y="5842337"/>
            <a:ext cx="12241936" cy="1015663"/>
          </a:xfrm>
          <a:prstGeom prst="rect">
            <a:avLst/>
          </a:prstGeom>
          <a:solidFill>
            <a:schemeClr val="bg1"/>
          </a:solidFill>
        </p:spPr>
        <p:txBody>
          <a:bodyPr wrap="square" rtlCol="0">
            <a:spAutoFit/>
          </a:bodyPr>
          <a:lstStyle/>
          <a:p>
            <a:r>
              <a:rPr lang="en-US" sz="1200" dirty="0"/>
              <a:t>Based on 3 classification :</a:t>
            </a:r>
          </a:p>
          <a:p>
            <a:pPr marL="342900" indent="-342900">
              <a:buAutoNum type="arabicParenR"/>
            </a:pPr>
            <a:r>
              <a:rPr lang="en-US" sz="1200" dirty="0"/>
              <a:t>Internal Proposal basically follow originator timeline, but better submit when the originator have a plan to change</a:t>
            </a:r>
          </a:p>
          <a:p>
            <a:pPr marL="342900" indent="-342900">
              <a:buAutoNum type="arabicParenR"/>
            </a:pPr>
            <a:r>
              <a:rPr lang="en-US" sz="1200" dirty="0"/>
              <a:t>For External Proposal (OEM Customer) it will take time </a:t>
            </a:r>
            <a:r>
              <a:rPr lang="en-US" sz="1200" dirty="0" err="1"/>
              <a:t>atleast</a:t>
            </a:r>
            <a:r>
              <a:rPr lang="en-US" sz="1200" dirty="0"/>
              <a:t> 8 months but can be advance when we prepared the customer requirements before we submit the proposal</a:t>
            </a:r>
          </a:p>
          <a:p>
            <a:pPr marL="342900" indent="-342900">
              <a:buAutoNum type="arabicParenR"/>
            </a:pPr>
            <a:r>
              <a:rPr lang="en-US" sz="1200" dirty="0"/>
              <a:t>For Localization request that need new material or equipment, it will takes time around 16 months, but if no need order new material or equipment it will take around 12 months</a:t>
            </a:r>
          </a:p>
        </p:txBody>
      </p:sp>
      <p:sp>
        <p:nvSpPr>
          <p:cNvPr id="6" name="TextBox 5">
            <a:extLst>
              <a:ext uri="{FF2B5EF4-FFF2-40B4-BE49-F238E27FC236}">
                <a16:creationId xmlns:a16="http://schemas.microsoft.com/office/drawing/2014/main" id="{578A7F7B-5636-7E8D-2689-A4BF2C958AAD}"/>
              </a:ext>
            </a:extLst>
          </p:cNvPr>
          <p:cNvSpPr txBox="1"/>
          <p:nvPr/>
        </p:nvSpPr>
        <p:spPr>
          <a:xfrm>
            <a:off x="5939872" y="986479"/>
            <a:ext cx="4435813" cy="523220"/>
          </a:xfrm>
          <a:prstGeom prst="rect">
            <a:avLst/>
          </a:prstGeom>
          <a:noFill/>
        </p:spPr>
        <p:txBody>
          <a:bodyPr wrap="square" rtlCol="0">
            <a:spAutoFit/>
          </a:bodyPr>
          <a:lstStyle/>
          <a:p>
            <a:r>
              <a:rPr lang="en-US" dirty="0"/>
              <a:t>Red Circle		: Need Customer Approval</a:t>
            </a:r>
          </a:p>
          <a:p>
            <a:r>
              <a:rPr lang="en-US" dirty="0"/>
              <a:t>Green Circle	: No Need Customer Approval</a:t>
            </a:r>
          </a:p>
        </p:txBody>
      </p:sp>
      <p:sp>
        <p:nvSpPr>
          <p:cNvPr id="7" name="TextBox 6">
            <a:extLst>
              <a:ext uri="{FF2B5EF4-FFF2-40B4-BE49-F238E27FC236}">
                <a16:creationId xmlns:a16="http://schemas.microsoft.com/office/drawing/2014/main" id="{38EAF86A-DAEC-3873-1546-7D90BEAAA84B}"/>
              </a:ext>
            </a:extLst>
          </p:cNvPr>
          <p:cNvSpPr txBox="1"/>
          <p:nvPr/>
        </p:nvSpPr>
        <p:spPr>
          <a:xfrm>
            <a:off x="34369" y="3228945"/>
            <a:ext cx="4498719" cy="400110"/>
          </a:xfrm>
          <a:prstGeom prst="rect">
            <a:avLst/>
          </a:prstGeom>
          <a:noFill/>
        </p:spPr>
        <p:txBody>
          <a:bodyPr wrap="square" rtlCol="0">
            <a:spAutoFit/>
          </a:bodyPr>
          <a:lstStyle/>
          <a:p>
            <a:r>
              <a:rPr lang="en-US" sz="2000" dirty="0"/>
              <a:t>Change Classification Lead Time</a:t>
            </a:r>
          </a:p>
        </p:txBody>
      </p:sp>
      <p:sp>
        <p:nvSpPr>
          <p:cNvPr id="8" name="TextBox 7">
            <a:extLst>
              <a:ext uri="{FF2B5EF4-FFF2-40B4-BE49-F238E27FC236}">
                <a16:creationId xmlns:a16="http://schemas.microsoft.com/office/drawing/2014/main" id="{65619C19-A04D-E4AF-CAC7-B42DEF82BCFC}"/>
              </a:ext>
            </a:extLst>
          </p:cNvPr>
          <p:cNvSpPr txBox="1"/>
          <p:nvPr/>
        </p:nvSpPr>
        <p:spPr>
          <a:xfrm>
            <a:off x="121920" y="101600"/>
            <a:ext cx="7340764" cy="369332"/>
          </a:xfrm>
          <a:prstGeom prst="rect">
            <a:avLst/>
          </a:prstGeom>
          <a:noFill/>
        </p:spPr>
        <p:txBody>
          <a:bodyPr wrap="square" rtlCol="0">
            <a:spAutoFit/>
          </a:bodyPr>
          <a:lstStyle/>
          <a:p>
            <a:r>
              <a:rPr lang="en-US" sz="1800" b="1" dirty="0">
                <a:solidFill>
                  <a:srgbClr val="0070C0"/>
                </a:solidFill>
              </a:rPr>
              <a:t>Appendix 2 Classification</a:t>
            </a:r>
          </a:p>
        </p:txBody>
      </p:sp>
    </p:spTree>
    <p:extLst>
      <p:ext uri="{BB962C8B-B14F-4D97-AF65-F5344CB8AC3E}">
        <p14:creationId xmlns:p14="http://schemas.microsoft.com/office/powerpoint/2010/main" val="131391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0" name="Object 39">
            <a:extLst>
              <a:ext uri="{FF2B5EF4-FFF2-40B4-BE49-F238E27FC236}">
                <a16:creationId xmlns:a16="http://schemas.microsoft.com/office/drawing/2014/main" id="{35182818-8F2B-9007-777A-7A5295E94964}"/>
              </a:ext>
            </a:extLst>
          </p:cNvPr>
          <p:cNvGraphicFramePr>
            <a:graphicFrameLocks noChangeAspect="1"/>
          </p:cNvGraphicFramePr>
          <p:nvPr>
            <p:extLst>
              <p:ext uri="{D42A27DB-BD31-4B8C-83A1-F6EECF244321}">
                <p14:modId xmlns:p14="http://schemas.microsoft.com/office/powerpoint/2010/main" val="2334070207"/>
              </p:ext>
            </p:extLst>
          </p:nvPr>
        </p:nvGraphicFramePr>
        <p:xfrm>
          <a:off x="122266" y="1094156"/>
          <a:ext cx="3350232" cy="4812795"/>
        </p:xfrm>
        <a:graphic>
          <a:graphicData uri="http://schemas.openxmlformats.org/presentationml/2006/ole">
            <mc:AlternateContent xmlns:mc="http://schemas.openxmlformats.org/markup-compatibility/2006">
              <mc:Choice xmlns:v="urn:schemas-microsoft-com:vml" Requires="v">
                <p:oleObj name="Worksheet" r:id="rId3" imgW="5036855" imgH="7239063" progId="Excel.Sheet.12">
                  <p:embed/>
                </p:oleObj>
              </mc:Choice>
              <mc:Fallback>
                <p:oleObj name="Worksheet" r:id="rId3" imgW="5036855" imgH="7239063" progId="Excel.Sheet.12">
                  <p:embed/>
                  <p:pic>
                    <p:nvPicPr>
                      <p:cNvPr id="0" name=""/>
                      <p:cNvPicPr/>
                      <p:nvPr/>
                    </p:nvPicPr>
                    <p:blipFill>
                      <a:blip r:embed="rId4"/>
                      <a:stretch>
                        <a:fillRect/>
                      </a:stretch>
                    </p:blipFill>
                    <p:spPr>
                      <a:xfrm>
                        <a:off x="122266" y="1094156"/>
                        <a:ext cx="3350232" cy="4812795"/>
                      </a:xfrm>
                      <a:prstGeom prst="rect">
                        <a:avLst/>
                      </a:prstGeom>
                      <a:solidFill>
                        <a:schemeClr val="bg1"/>
                      </a:solidFill>
                      <a:ln>
                        <a:solidFill>
                          <a:schemeClr val="tx1"/>
                        </a:solidFill>
                      </a:ln>
                    </p:spPr>
                  </p:pic>
                </p:oleObj>
              </mc:Fallback>
            </mc:AlternateContent>
          </a:graphicData>
        </a:graphic>
      </p:graphicFrame>
      <p:graphicFrame>
        <p:nvGraphicFramePr>
          <p:cNvPr id="41" name="Object 40">
            <a:extLst>
              <a:ext uri="{FF2B5EF4-FFF2-40B4-BE49-F238E27FC236}">
                <a16:creationId xmlns:a16="http://schemas.microsoft.com/office/drawing/2014/main" id="{A823D260-B6C6-E78F-FD84-A1EF0A7BAA27}"/>
              </a:ext>
            </a:extLst>
          </p:cNvPr>
          <p:cNvGraphicFramePr>
            <a:graphicFrameLocks noChangeAspect="1"/>
          </p:cNvGraphicFramePr>
          <p:nvPr>
            <p:extLst>
              <p:ext uri="{D42A27DB-BD31-4B8C-83A1-F6EECF244321}">
                <p14:modId xmlns:p14="http://schemas.microsoft.com/office/powerpoint/2010/main" val="4187491934"/>
              </p:ext>
            </p:extLst>
          </p:nvPr>
        </p:nvGraphicFramePr>
        <p:xfrm>
          <a:off x="3651042" y="1084801"/>
          <a:ext cx="3944128" cy="5622936"/>
        </p:xfrm>
        <a:graphic>
          <a:graphicData uri="http://schemas.openxmlformats.org/presentationml/2006/ole">
            <mc:AlternateContent xmlns:mc="http://schemas.openxmlformats.org/markup-compatibility/2006">
              <mc:Choice xmlns:v="urn:schemas-microsoft-com:vml" Requires="v">
                <p:oleObj name="Worksheet" r:id="rId5" imgW="6294049" imgH="8976234" progId="Excel.Sheet.12">
                  <p:embed/>
                </p:oleObj>
              </mc:Choice>
              <mc:Fallback>
                <p:oleObj name="Worksheet" r:id="rId5" imgW="6294049" imgH="8976234" progId="Excel.Sheet.12">
                  <p:embed/>
                  <p:pic>
                    <p:nvPicPr>
                      <p:cNvPr id="0" name=""/>
                      <p:cNvPicPr/>
                      <p:nvPr/>
                    </p:nvPicPr>
                    <p:blipFill>
                      <a:blip r:embed="rId6"/>
                      <a:stretch>
                        <a:fillRect/>
                      </a:stretch>
                    </p:blipFill>
                    <p:spPr>
                      <a:xfrm>
                        <a:off x="3651042" y="1084801"/>
                        <a:ext cx="3944128" cy="5622936"/>
                      </a:xfrm>
                      <a:prstGeom prst="rect">
                        <a:avLst/>
                      </a:prstGeom>
                      <a:ln>
                        <a:solidFill>
                          <a:schemeClr val="tx1"/>
                        </a:solidFill>
                      </a:ln>
                    </p:spPr>
                  </p:pic>
                </p:oleObj>
              </mc:Fallback>
            </mc:AlternateContent>
          </a:graphicData>
        </a:graphic>
      </p:graphicFrame>
      <p:graphicFrame>
        <p:nvGraphicFramePr>
          <p:cNvPr id="42" name="Object 41">
            <a:extLst>
              <a:ext uri="{FF2B5EF4-FFF2-40B4-BE49-F238E27FC236}">
                <a16:creationId xmlns:a16="http://schemas.microsoft.com/office/drawing/2014/main" id="{2DA8930B-5B92-C61F-0C70-2E066E8AE70C}"/>
              </a:ext>
            </a:extLst>
          </p:cNvPr>
          <p:cNvGraphicFramePr>
            <a:graphicFrameLocks noChangeAspect="1"/>
          </p:cNvGraphicFramePr>
          <p:nvPr>
            <p:extLst>
              <p:ext uri="{D42A27DB-BD31-4B8C-83A1-F6EECF244321}">
                <p14:modId xmlns:p14="http://schemas.microsoft.com/office/powerpoint/2010/main" val="3721652540"/>
              </p:ext>
            </p:extLst>
          </p:nvPr>
        </p:nvGraphicFramePr>
        <p:xfrm>
          <a:off x="7633975" y="1094529"/>
          <a:ext cx="4548332" cy="4411325"/>
        </p:xfrm>
        <a:graphic>
          <a:graphicData uri="http://schemas.openxmlformats.org/presentationml/2006/ole">
            <mc:AlternateContent xmlns:mc="http://schemas.openxmlformats.org/markup-compatibility/2006">
              <mc:Choice xmlns:v="urn:schemas-microsoft-com:vml" Requires="v">
                <p:oleObj name="Worksheet" r:id="rId7" imgW="8808862" imgH="8542154" progId="Excel.Sheet.12">
                  <p:embed/>
                </p:oleObj>
              </mc:Choice>
              <mc:Fallback>
                <p:oleObj name="Worksheet" r:id="rId7" imgW="8808862" imgH="8542154" progId="Excel.Sheet.12">
                  <p:embed/>
                  <p:pic>
                    <p:nvPicPr>
                      <p:cNvPr id="0" name=""/>
                      <p:cNvPicPr/>
                      <p:nvPr/>
                    </p:nvPicPr>
                    <p:blipFill>
                      <a:blip r:embed="rId8"/>
                      <a:stretch>
                        <a:fillRect/>
                      </a:stretch>
                    </p:blipFill>
                    <p:spPr>
                      <a:xfrm>
                        <a:off x="7633975" y="1094529"/>
                        <a:ext cx="4548332" cy="4411325"/>
                      </a:xfrm>
                      <a:prstGeom prst="rect">
                        <a:avLst/>
                      </a:prstGeom>
                      <a:ln>
                        <a:solidFill>
                          <a:schemeClr val="tx1"/>
                        </a:solidFill>
                      </a:ln>
                    </p:spPr>
                  </p:pic>
                </p:oleObj>
              </mc:Fallback>
            </mc:AlternateContent>
          </a:graphicData>
        </a:graphic>
      </p:graphicFrame>
      <p:sp>
        <p:nvSpPr>
          <p:cNvPr id="43" name="Rectangle 42">
            <a:extLst>
              <a:ext uri="{FF2B5EF4-FFF2-40B4-BE49-F238E27FC236}">
                <a16:creationId xmlns:a16="http://schemas.microsoft.com/office/drawing/2014/main" id="{F7F48ACF-3F19-B1BC-9B68-6FB435CCB46E}"/>
              </a:ext>
            </a:extLst>
          </p:cNvPr>
          <p:cNvSpPr/>
          <p:nvPr/>
        </p:nvSpPr>
        <p:spPr>
          <a:xfrm>
            <a:off x="19456" y="5946979"/>
            <a:ext cx="3550596" cy="860424"/>
          </a:xfrm>
          <a:prstGeom prst="rect">
            <a:avLst/>
          </a:prstGeom>
          <a:solidFill>
            <a:schemeClr val="accent2">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a:solidFill>
                  <a:sysClr val="windowText" lastClr="000000"/>
                </a:solidFill>
              </a:rPr>
              <a:t>Sample Case (That PE Know) :</a:t>
            </a:r>
          </a:p>
          <a:p>
            <a:pPr algn="l"/>
            <a:r>
              <a:rPr lang="en-US" sz="900" dirty="0">
                <a:solidFill>
                  <a:sysClr val="windowText" lastClr="000000"/>
                </a:solidFill>
              </a:rPr>
              <a:t>1. Honda</a:t>
            </a:r>
            <a:r>
              <a:rPr lang="en-US" sz="900" baseline="0" dirty="0">
                <a:solidFill>
                  <a:sysClr val="windowText" lastClr="000000"/>
                </a:solidFill>
              </a:rPr>
              <a:t> 4W</a:t>
            </a:r>
            <a:r>
              <a:rPr lang="en-US" sz="900" dirty="0">
                <a:solidFill>
                  <a:sysClr val="windowText" lastClr="000000"/>
                </a:solidFill>
              </a:rPr>
              <a:t> -</a:t>
            </a:r>
            <a:r>
              <a:rPr lang="en-US" sz="900" baseline="0" dirty="0">
                <a:solidFill>
                  <a:sysClr val="windowText" lastClr="000000"/>
                </a:solidFill>
              </a:rPr>
              <a:t> Sensor Oxygen : New Glass Tube Application</a:t>
            </a:r>
          </a:p>
          <a:p>
            <a:pPr algn="l"/>
            <a:r>
              <a:rPr lang="en-US" sz="900" baseline="0" dirty="0">
                <a:solidFill>
                  <a:sysClr val="windowText" lastClr="000000"/>
                </a:solidFill>
              </a:rPr>
              <a:t>2. SIM 4W - Sensor Knock : Change Source from Japan to Wells Vehicle</a:t>
            </a:r>
          </a:p>
          <a:p>
            <a:pPr algn="l"/>
            <a:r>
              <a:rPr lang="en-US" sz="900" baseline="0" dirty="0">
                <a:solidFill>
                  <a:sysClr val="windowText" lastClr="000000"/>
                </a:solidFill>
              </a:rPr>
              <a:t>3. Honda 2W - Sensor Oxygen : Change dimension</a:t>
            </a:r>
          </a:p>
          <a:p>
            <a:pPr algn="l"/>
            <a:r>
              <a:rPr lang="en-US" sz="900" baseline="0" dirty="0">
                <a:solidFill>
                  <a:sysClr val="windowText" lastClr="000000"/>
                </a:solidFill>
              </a:rPr>
              <a:t>4. </a:t>
            </a:r>
            <a:r>
              <a:rPr lang="en-US" sz="900" baseline="0" dirty="0" err="1">
                <a:solidFill>
                  <a:sysClr val="windowText" lastClr="000000"/>
                </a:solidFill>
              </a:rPr>
              <a:t>etc</a:t>
            </a:r>
            <a:endParaRPr lang="en-US" sz="900" dirty="0">
              <a:solidFill>
                <a:sysClr val="windowText" lastClr="000000"/>
              </a:solidFill>
            </a:endParaRPr>
          </a:p>
          <a:p>
            <a:pPr algn="l"/>
            <a:endParaRPr lang="en-US" sz="900" dirty="0">
              <a:solidFill>
                <a:sysClr val="windowText" lastClr="000000"/>
              </a:solidFill>
            </a:endParaRPr>
          </a:p>
        </p:txBody>
      </p:sp>
      <p:sp>
        <p:nvSpPr>
          <p:cNvPr id="44" name="Rectangle 43">
            <a:extLst>
              <a:ext uri="{FF2B5EF4-FFF2-40B4-BE49-F238E27FC236}">
                <a16:creationId xmlns:a16="http://schemas.microsoft.com/office/drawing/2014/main" id="{F30F21F7-A876-444B-AB3D-BEF4304ED0F3}"/>
              </a:ext>
            </a:extLst>
          </p:cNvPr>
          <p:cNvSpPr/>
          <p:nvPr/>
        </p:nvSpPr>
        <p:spPr>
          <a:xfrm>
            <a:off x="3299043" y="2911625"/>
            <a:ext cx="5951961" cy="65211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1100" dirty="0">
                <a:solidFill>
                  <a:sysClr val="windowText" lastClr="000000"/>
                </a:solidFill>
              </a:rPr>
              <a:t>Sample Case (That PE Know) :</a:t>
            </a:r>
          </a:p>
          <a:p>
            <a:pPr algn="l"/>
            <a:r>
              <a:rPr lang="en-US" sz="1100" dirty="0">
                <a:solidFill>
                  <a:sysClr val="windowText" lastClr="000000"/>
                </a:solidFill>
              </a:rPr>
              <a:t>1. AHM - Spark Plug : Additional</a:t>
            </a:r>
            <a:r>
              <a:rPr lang="en-US" sz="1100" baseline="0" dirty="0">
                <a:solidFill>
                  <a:sysClr val="windowText" lastClr="000000"/>
                </a:solidFill>
              </a:rPr>
              <a:t> Source, Production Change (Plating, Welding Tip Process)</a:t>
            </a:r>
          </a:p>
          <a:p>
            <a:pPr algn="l"/>
            <a:r>
              <a:rPr lang="en-US" sz="1100" baseline="0" dirty="0">
                <a:solidFill>
                  <a:sysClr val="windowText" lastClr="000000"/>
                </a:solidFill>
              </a:rPr>
              <a:t>2. AHM - Sensor Oxygen : Production Site Change</a:t>
            </a:r>
            <a:endParaRPr lang="en-US" sz="1100" dirty="0">
              <a:solidFill>
                <a:sysClr val="windowText" lastClr="000000"/>
              </a:solidFill>
            </a:endParaRPr>
          </a:p>
        </p:txBody>
      </p:sp>
      <p:sp>
        <p:nvSpPr>
          <p:cNvPr id="45" name="TextBox 44">
            <a:extLst>
              <a:ext uri="{FF2B5EF4-FFF2-40B4-BE49-F238E27FC236}">
                <a16:creationId xmlns:a16="http://schemas.microsoft.com/office/drawing/2014/main" id="{80C4E441-B350-2E6C-F911-0BA017D687EF}"/>
              </a:ext>
            </a:extLst>
          </p:cNvPr>
          <p:cNvSpPr txBox="1"/>
          <p:nvPr/>
        </p:nvSpPr>
        <p:spPr>
          <a:xfrm>
            <a:off x="30637" y="775410"/>
            <a:ext cx="3350232" cy="261610"/>
          </a:xfrm>
          <a:prstGeom prst="rect">
            <a:avLst/>
          </a:prstGeom>
          <a:noFill/>
        </p:spPr>
        <p:txBody>
          <a:bodyPr wrap="square" rtlCol="0">
            <a:spAutoFit/>
          </a:bodyPr>
          <a:lstStyle/>
          <a:p>
            <a:r>
              <a:rPr lang="en-US" sz="1100" dirty="0"/>
              <a:t>Passthrough Part Model 1</a:t>
            </a:r>
          </a:p>
        </p:txBody>
      </p:sp>
      <p:sp>
        <p:nvSpPr>
          <p:cNvPr id="46" name="TextBox 45">
            <a:extLst>
              <a:ext uri="{FF2B5EF4-FFF2-40B4-BE49-F238E27FC236}">
                <a16:creationId xmlns:a16="http://schemas.microsoft.com/office/drawing/2014/main" id="{211D0DE8-35F5-D75E-F6ED-6E9E96D96D6E}"/>
              </a:ext>
            </a:extLst>
          </p:cNvPr>
          <p:cNvSpPr txBox="1"/>
          <p:nvPr/>
        </p:nvSpPr>
        <p:spPr>
          <a:xfrm>
            <a:off x="3567485" y="770640"/>
            <a:ext cx="3350232" cy="261610"/>
          </a:xfrm>
          <a:prstGeom prst="rect">
            <a:avLst/>
          </a:prstGeom>
          <a:noFill/>
        </p:spPr>
        <p:txBody>
          <a:bodyPr wrap="square" rtlCol="0">
            <a:spAutoFit/>
          </a:bodyPr>
          <a:lstStyle/>
          <a:p>
            <a:r>
              <a:rPr lang="en-US" sz="1100" dirty="0"/>
              <a:t>Passthrough Part Model 2</a:t>
            </a:r>
          </a:p>
        </p:txBody>
      </p:sp>
      <p:sp>
        <p:nvSpPr>
          <p:cNvPr id="47" name="TextBox 46">
            <a:extLst>
              <a:ext uri="{FF2B5EF4-FFF2-40B4-BE49-F238E27FC236}">
                <a16:creationId xmlns:a16="http://schemas.microsoft.com/office/drawing/2014/main" id="{2F1F1D78-B332-DA24-3B3D-B1FA7A5CA83B}"/>
              </a:ext>
            </a:extLst>
          </p:cNvPr>
          <p:cNvSpPr txBox="1"/>
          <p:nvPr/>
        </p:nvSpPr>
        <p:spPr>
          <a:xfrm>
            <a:off x="7595170" y="777079"/>
            <a:ext cx="3350232" cy="261610"/>
          </a:xfrm>
          <a:prstGeom prst="rect">
            <a:avLst/>
          </a:prstGeom>
          <a:noFill/>
        </p:spPr>
        <p:txBody>
          <a:bodyPr wrap="square" rtlCol="0">
            <a:spAutoFit/>
          </a:bodyPr>
          <a:lstStyle/>
          <a:p>
            <a:r>
              <a:rPr lang="en-US" sz="1100" dirty="0"/>
              <a:t>Passthrough Part Model 3</a:t>
            </a:r>
          </a:p>
        </p:txBody>
      </p:sp>
      <p:sp>
        <p:nvSpPr>
          <p:cNvPr id="48" name="Rectangle 47">
            <a:extLst>
              <a:ext uri="{FF2B5EF4-FFF2-40B4-BE49-F238E27FC236}">
                <a16:creationId xmlns:a16="http://schemas.microsoft.com/office/drawing/2014/main" id="{AD3705A9-4ABD-43F0-BF0F-D4A56ECAA9D5}"/>
              </a:ext>
            </a:extLst>
          </p:cNvPr>
          <p:cNvSpPr/>
          <p:nvPr/>
        </p:nvSpPr>
        <p:spPr>
          <a:xfrm>
            <a:off x="6974552" y="5539753"/>
            <a:ext cx="6805195" cy="5411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1100" dirty="0">
                <a:solidFill>
                  <a:sysClr val="windowText" lastClr="000000"/>
                </a:solidFill>
              </a:rPr>
              <a:t>Sample Case (That PE Know) :</a:t>
            </a:r>
          </a:p>
          <a:p>
            <a:pPr algn="l"/>
            <a:r>
              <a:rPr lang="en-US" sz="1100" dirty="0">
                <a:solidFill>
                  <a:sysClr val="windowText" lastClr="000000"/>
                </a:solidFill>
              </a:rPr>
              <a:t>1. SIM 4W</a:t>
            </a:r>
            <a:r>
              <a:rPr lang="en-US" sz="1100" baseline="0" dirty="0">
                <a:solidFill>
                  <a:sysClr val="windowText" lastClr="000000"/>
                </a:solidFill>
              </a:rPr>
              <a:t> - Sensor Knock : Company Name Change from Wells Vehicle to </a:t>
            </a:r>
            <a:r>
              <a:rPr lang="en-US" sz="1100" baseline="0" dirty="0" err="1">
                <a:solidFill>
                  <a:sysClr val="windowText" lastClr="000000"/>
                </a:solidFill>
              </a:rPr>
              <a:t>Niterra</a:t>
            </a:r>
            <a:r>
              <a:rPr lang="en-US" sz="1100" baseline="0" dirty="0">
                <a:solidFill>
                  <a:sysClr val="windowText" lastClr="000000"/>
                </a:solidFill>
              </a:rPr>
              <a:t> North America</a:t>
            </a:r>
            <a:endParaRPr lang="en-US" sz="1100" dirty="0">
              <a:solidFill>
                <a:sysClr val="windowText" lastClr="000000"/>
              </a:solidFill>
            </a:endParaRPr>
          </a:p>
        </p:txBody>
      </p:sp>
      <p:sp>
        <p:nvSpPr>
          <p:cNvPr id="2" name="TextBox 1">
            <a:extLst>
              <a:ext uri="{FF2B5EF4-FFF2-40B4-BE49-F238E27FC236}">
                <a16:creationId xmlns:a16="http://schemas.microsoft.com/office/drawing/2014/main" id="{78901DA0-678B-6CFA-186E-EFE368F12262}"/>
              </a:ext>
            </a:extLst>
          </p:cNvPr>
          <p:cNvSpPr txBox="1"/>
          <p:nvPr/>
        </p:nvSpPr>
        <p:spPr>
          <a:xfrm>
            <a:off x="121919" y="101600"/>
            <a:ext cx="8918842" cy="369332"/>
          </a:xfrm>
          <a:prstGeom prst="rect">
            <a:avLst/>
          </a:prstGeom>
          <a:noFill/>
        </p:spPr>
        <p:txBody>
          <a:bodyPr wrap="square" rtlCol="0">
            <a:spAutoFit/>
          </a:bodyPr>
          <a:lstStyle/>
          <a:p>
            <a:r>
              <a:rPr lang="en-US" sz="1800" b="1" dirty="0">
                <a:solidFill>
                  <a:srgbClr val="0070C0"/>
                </a:solidFill>
              </a:rPr>
              <a:t>Appendix 3. Current Detail Process Pass Thru</a:t>
            </a:r>
          </a:p>
        </p:txBody>
      </p:sp>
    </p:spTree>
    <p:extLst>
      <p:ext uri="{BB962C8B-B14F-4D97-AF65-F5344CB8AC3E}">
        <p14:creationId xmlns:p14="http://schemas.microsoft.com/office/powerpoint/2010/main" val="2533762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 name="TextBox 58">
            <a:extLst>
              <a:ext uri="{FF2B5EF4-FFF2-40B4-BE49-F238E27FC236}">
                <a16:creationId xmlns:a16="http://schemas.microsoft.com/office/drawing/2014/main" id="{FD531DD8-5501-9CF4-A020-E780F6248A7A}"/>
              </a:ext>
            </a:extLst>
          </p:cNvPr>
          <p:cNvSpPr txBox="1"/>
          <p:nvPr/>
        </p:nvSpPr>
        <p:spPr>
          <a:xfrm>
            <a:off x="121919" y="101600"/>
            <a:ext cx="8918842" cy="369332"/>
          </a:xfrm>
          <a:prstGeom prst="rect">
            <a:avLst/>
          </a:prstGeom>
          <a:noFill/>
        </p:spPr>
        <p:txBody>
          <a:bodyPr wrap="square" rtlCol="0">
            <a:spAutoFit/>
          </a:bodyPr>
          <a:lstStyle/>
          <a:p>
            <a:r>
              <a:rPr lang="en-US" sz="1800" b="1" dirty="0">
                <a:solidFill>
                  <a:srgbClr val="0070C0"/>
                </a:solidFill>
              </a:rPr>
              <a:t>Appendix 4. Flow Process PCR Proposed</a:t>
            </a:r>
          </a:p>
        </p:txBody>
      </p:sp>
      <p:pic>
        <p:nvPicPr>
          <p:cNvPr id="2" name="Picture 1">
            <a:extLst>
              <a:ext uri="{FF2B5EF4-FFF2-40B4-BE49-F238E27FC236}">
                <a16:creationId xmlns:a16="http://schemas.microsoft.com/office/drawing/2014/main" id="{4B383353-157A-4D90-0979-5543E77BB9BA}"/>
              </a:ext>
            </a:extLst>
          </p:cNvPr>
          <p:cNvPicPr>
            <a:picLocks noChangeAspect="1"/>
          </p:cNvPicPr>
          <p:nvPr/>
        </p:nvPicPr>
        <p:blipFill>
          <a:blip r:embed="rId2"/>
          <a:stretch>
            <a:fillRect/>
          </a:stretch>
        </p:blipFill>
        <p:spPr>
          <a:xfrm>
            <a:off x="212173" y="703284"/>
            <a:ext cx="8738334" cy="6154716"/>
          </a:xfrm>
          <a:prstGeom prst="rect">
            <a:avLst/>
          </a:prstGeom>
          <a:solidFill>
            <a:schemeClr val="bg1"/>
          </a:solidFill>
        </p:spPr>
      </p:pic>
      <p:graphicFrame>
        <p:nvGraphicFramePr>
          <p:cNvPr id="3" name="Table 2">
            <a:extLst>
              <a:ext uri="{FF2B5EF4-FFF2-40B4-BE49-F238E27FC236}">
                <a16:creationId xmlns:a16="http://schemas.microsoft.com/office/drawing/2014/main" id="{FC496FBF-AE0F-FC78-192E-2BA9D8F72235}"/>
              </a:ext>
            </a:extLst>
          </p:cNvPr>
          <p:cNvGraphicFramePr>
            <a:graphicFrameLocks noGrp="1"/>
          </p:cNvGraphicFramePr>
          <p:nvPr>
            <p:extLst>
              <p:ext uri="{D42A27DB-BD31-4B8C-83A1-F6EECF244321}">
                <p14:modId xmlns:p14="http://schemas.microsoft.com/office/powerpoint/2010/main" val="1971109618"/>
              </p:ext>
            </p:extLst>
          </p:nvPr>
        </p:nvGraphicFramePr>
        <p:xfrm>
          <a:off x="9231821" y="995599"/>
          <a:ext cx="2849934" cy="916874"/>
        </p:xfrm>
        <a:graphic>
          <a:graphicData uri="http://schemas.openxmlformats.org/drawingml/2006/table">
            <a:tbl>
              <a:tblPr>
                <a:tableStyleId>{5C22544A-7EE6-4342-B048-85BDC9FD1C3A}</a:tableStyleId>
              </a:tblPr>
              <a:tblGrid>
                <a:gridCol w="2849934">
                  <a:extLst>
                    <a:ext uri="{9D8B030D-6E8A-4147-A177-3AD203B41FA5}">
                      <a16:colId xmlns:a16="http://schemas.microsoft.com/office/drawing/2014/main" val="2472586898"/>
                    </a:ext>
                  </a:extLst>
                </a:gridCol>
              </a:tblGrid>
              <a:tr h="421574">
                <a:tc>
                  <a:txBody>
                    <a:bodyPr/>
                    <a:lstStyle/>
                    <a:p>
                      <a:pPr algn="ctr" fontAlgn="ctr"/>
                      <a:r>
                        <a:rPr lang="en-US" sz="1400" b="1" u="none" strike="noStrike" dirty="0">
                          <a:solidFill>
                            <a:schemeClr val="bg1"/>
                          </a:solidFill>
                          <a:effectLst/>
                        </a:rPr>
                        <a:t>Definition of Proposer</a:t>
                      </a:r>
                      <a:endParaRPr lang="en-US" sz="1400" b="1" i="0" u="none" strike="noStrike" dirty="0">
                        <a:solidFill>
                          <a:schemeClr val="bg1"/>
                        </a:solidFill>
                        <a:effectLst/>
                        <a:latin typeface="Tahoma" panose="020B0604030504040204" pitchFamily="34" charset="0"/>
                      </a:endParaRPr>
                    </a:p>
                  </a:txBody>
                  <a:tcPr marL="7620" marR="7620" marT="7620" marB="0" anchor="ctr">
                    <a:solidFill>
                      <a:srgbClr val="0070C0"/>
                    </a:solidFill>
                  </a:tcPr>
                </a:tc>
                <a:extLst>
                  <a:ext uri="{0D108BD9-81ED-4DB2-BD59-A6C34878D82A}">
                    <a16:rowId xmlns:a16="http://schemas.microsoft.com/office/drawing/2014/main" val="1417991533"/>
                  </a:ext>
                </a:extLst>
              </a:tr>
              <a:tr h="479721">
                <a:tc>
                  <a:txBody>
                    <a:bodyPr/>
                    <a:lstStyle/>
                    <a:p>
                      <a:pPr algn="ctr" fontAlgn="ctr"/>
                      <a:r>
                        <a:rPr lang="en-US" sz="1600" u="none" strike="noStrike" dirty="0">
                          <a:effectLst/>
                        </a:rPr>
                        <a:t>Department that conduct the change</a:t>
                      </a:r>
                      <a:endParaRPr lang="en-US" sz="1600" b="0" i="0" u="none" strike="noStrike" dirty="0">
                        <a:solidFill>
                          <a:srgbClr val="000000"/>
                        </a:solidFill>
                        <a:effectLst/>
                        <a:latin typeface="Tahoma" panose="020B0604030504040204" pitchFamily="34" charset="0"/>
                      </a:endParaRPr>
                    </a:p>
                  </a:txBody>
                  <a:tcPr marL="7620" marR="7620" marT="7620" marB="0" anchor="ctr"/>
                </a:tc>
                <a:extLst>
                  <a:ext uri="{0D108BD9-81ED-4DB2-BD59-A6C34878D82A}">
                    <a16:rowId xmlns:a16="http://schemas.microsoft.com/office/drawing/2014/main" val="1327459919"/>
                  </a:ext>
                </a:extLst>
              </a:tr>
            </a:tbl>
          </a:graphicData>
        </a:graphic>
      </p:graphicFrame>
    </p:spTree>
    <p:extLst>
      <p:ext uri="{BB962C8B-B14F-4D97-AF65-F5344CB8AC3E}">
        <p14:creationId xmlns:p14="http://schemas.microsoft.com/office/powerpoint/2010/main" val="3357231683"/>
      </p:ext>
    </p:extLst>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7724CF4-DE8E-47F2-800F-09A81FA4370C}" vid="{193ABC4D-A21E-4748-A46E-250F32E55A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11805</TotalTime>
  <Words>1375</Words>
  <Application>Microsoft Office PowerPoint</Application>
  <PresentationFormat>Widescreen</PresentationFormat>
  <Paragraphs>344</Paragraphs>
  <Slides>10</Slides>
  <Notes>7</Notes>
  <HiddenSlides>3</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Avenir</vt:lpstr>
      <vt:lpstr>Helvetica Neue Light</vt:lpstr>
      <vt:lpstr>Aptos</vt:lpstr>
      <vt:lpstr>Arial</vt:lpstr>
      <vt:lpstr>Tahoma</vt:lpstr>
      <vt:lpstr>Wingdings</vt:lpstr>
      <vt:lpstr>Theme1</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 31 NGKBUSI</dc:creator>
  <cp:lastModifiedBy>User 28</cp:lastModifiedBy>
  <cp:revision>112</cp:revision>
  <dcterms:created xsi:type="dcterms:W3CDTF">2024-08-30T05:49:44Z</dcterms:created>
  <dcterms:modified xsi:type="dcterms:W3CDTF">2025-06-25T03:11:58Z</dcterms:modified>
</cp:coreProperties>
</file>